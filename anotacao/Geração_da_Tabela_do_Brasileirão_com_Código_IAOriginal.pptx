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41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4532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jpe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jpe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3" Type="http://schemas.openxmlformats.org/officeDocument/2006/relationships/image" Target="../media/image51.jpe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jpe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51.jpe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9.jpe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7" Type="http://schemas.openxmlformats.org/officeDocument/2006/relationships/image" Target="../media/image8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eg"/><Relationship Id="rId7" Type="http://schemas.openxmlformats.org/officeDocument/2006/relationships/image" Target="../media/image9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4.jpeg"/><Relationship Id="rId7" Type="http://schemas.openxmlformats.org/officeDocument/2006/relationships/image" Target="../media/image9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819" y="2023467"/>
            <a:ext cx="1071563" cy="10715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028950" y="838888"/>
            <a:ext cx="58293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2" dirty="0">
                <a:solidFill>
                  <a:srgbClr val="009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PROJETO BRASILEIRÃO</a:t>
            </a:r>
            <a:endParaRPr lang="en-US" sz="784" dirty="0"/>
          </a:p>
        </p:txBody>
      </p:sp>
      <p:sp>
        <p:nvSpPr>
          <p:cNvPr id="6" name="Text 2"/>
          <p:cNvSpPr/>
          <p:nvPr/>
        </p:nvSpPr>
        <p:spPr>
          <a:xfrm>
            <a:off x="3028950" y="1090706"/>
            <a:ext cx="5829300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GERAÇÃO AUTOMATIZADA DA TABELA DO CAMPEONATO BRASILEIRO</a:t>
            </a:r>
            <a:endParaRPr lang="en-US" sz="3294" dirty="0"/>
          </a:p>
        </p:txBody>
      </p:sp>
      <p:sp>
        <p:nvSpPr>
          <p:cNvPr id="7" name="Text 3"/>
          <p:cNvSpPr/>
          <p:nvPr/>
        </p:nvSpPr>
        <p:spPr>
          <a:xfrm>
            <a:off x="3028950" y="2685157"/>
            <a:ext cx="524635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estudo de caso sobre o uso de ChatGPT e GitHub Copilot na aceleração do desenvolvimento backend em Python</a:t>
            </a:r>
            <a:endParaRPr lang="en-US" sz="1269" dirty="0"/>
          </a:p>
        </p:txBody>
      </p:sp>
      <p:sp>
        <p:nvSpPr>
          <p:cNvPr id="8" name="Text 4"/>
          <p:cNvSpPr/>
          <p:nvPr/>
        </p:nvSpPr>
        <p:spPr>
          <a:xfrm>
            <a:off x="3028950" y="3413820"/>
            <a:ext cx="2857500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9C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TECNOLOGIAS</a:t>
            </a:r>
            <a:endParaRPr lang="en-US" sz="885" dirty="0"/>
          </a:p>
        </p:txBody>
      </p:sp>
      <p:sp>
        <p:nvSpPr>
          <p:cNvPr id="9" name="Text 5"/>
          <p:cNvSpPr/>
          <p:nvPr/>
        </p:nvSpPr>
        <p:spPr>
          <a:xfrm>
            <a:off x="3028950" y="3662065"/>
            <a:ext cx="285750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Python, FastAPI, SQLAlchemy</a:t>
            </a:r>
            <a:endParaRPr lang="en-US" sz="727" dirty="0"/>
          </a:p>
        </p:txBody>
      </p:sp>
      <p:sp>
        <p:nvSpPr>
          <p:cNvPr id="10" name="Text 6"/>
          <p:cNvSpPr/>
          <p:nvPr/>
        </p:nvSpPr>
        <p:spPr>
          <a:xfrm>
            <a:off x="6000750" y="3413820"/>
            <a:ext cx="2857500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9C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FERRAMENTAS IA</a:t>
            </a:r>
            <a:endParaRPr lang="en-US" sz="885" dirty="0"/>
          </a:p>
        </p:txBody>
      </p:sp>
      <p:sp>
        <p:nvSpPr>
          <p:cNvPr id="11" name="Text 7"/>
          <p:cNvSpPr/>
          <p:nvPr/>
        </p:nvSpPr>
        <p:spPr>
          <a:xfrm>
            <a:off x="6000750" y="3662065"/>
            <a:ext cx="285750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ChatGPT (Adapta), GitHub Copilot</a:t>
            </a:r>
            <a:endParaRPr lang="en-US" sz="727" dirty="0"/>
          </a:p>
        </p:txBody>
      </p:sp>
      <p:sp>
        <p:nvSpPr>
          <p:cNvPr id="12" name="Text 8"/>
          <p:cNvSpPr/>
          <p:nvPr/>
        </p:nvSpPr>
        <p:spPr>
          <a:xfrm>
            <a:off x="3028950" y="3916366"/>
            <a:ext cx="2857500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9C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</a:t>
            </a:r>
            <a:endParaRPr lang="en-US" sz="885" dirty="0"/>
          </a:p>
        </p:txBody>
      </p:sp>
      <p:sp>
        <p:nvSpPr>
          <p:cNvPr id="13" name="Text 9"/>
          <p:cNvSpPr/>
          <p:nvPr/>
        </p:nvSpPr>
        <p:spPr>
          <a:xfrm>
            <a:off x="3028950" y="4164611"/>
            <a:ext cx="285750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Automação de Código &amp; Backend</a:t>
            </a:r>
            <a:endParaRPr lang="en-US" sz="727" dirty="0"/>
          </a:p>
        </p:txBody>
      </p:sp>
      <p:sp>
        <p:nvSpPr>
          <p:cNvPr id="14" name="Text 10"/>
          <p:cNvSpPr/>
          <p:nvPr/>
        </p:nvSpPr>
        <p:spPr>
          <a:xfrm>
            <a:off x="6000750" y="3916366"/>
            <a:ext cx="2857500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9C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DADOS</a:t>
            </a:r>
            <a:endParaRPr lang="en-US" sz="885" dirty="0"/>
          </a:p>
        </p:txBody>
      </p:sp>
      <p:sp>
        <p:nvSpPr>
          <p:cNvPr id="15" name="Text 11"/>
          <p:cNvSpPr/>
          <p:nvPr/>
        </p:nvSpPr>
        <p:spPr>
          <a:xfrm>
            <a:off x="6000750" y="4164611"/>
            <a:ext cx="285750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Globo Esporte &amp; CBF</a:t>
            </a:r>
            <a:endParaRPr lang="en-US" sz="72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107854"/>
            <a:ext cx="9144000" cy="53592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714375" y="320771"/>
            <a:ext cx="80010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 DESAFIO: AUTOMATIZAR A GERAÇÃO DA CLASSIFICAÇÃO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428625" y="1286573"/>
            <a:ext cx="5143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projeto nasceu da necessidade de aplicar conhecimentos de </a:t>
            </a:r>
            <a:r>
              <a:rPr lang="en-US" sz="987" b="1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</a:t>
            </a:r>
            <a:r>
              <a:rPr lang="en-US" sz="105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resolver um problema real: gerar automaticamente a tabela oficial das Séries A e B do Brasileirão.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28625" y="2186685"/>
            <a:ext cx="357188" cy="357188"/>
          </a:xfrm>
          <a:prstGeom prst="ellipse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711" y="2293841"/>
            <a:ext cx="125016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28688" y="2192043"/>
            <a:ext cx="123586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Fontes Confiáveis</a:t>
            </a:r>
            <a:endParaRPr lang="en-US" sz="987" dirty="0"/>
          </a:p>
        </p:txBody>
      </p:sp>
      <p:sp>
        <p:nvSpPr>
          <p:cNvPr id="9" name="Text 5"/>
          <p:cNvSpPr/>
          <p:nvPr/>
        </p:nvSpPr>
        <p:spPr>
          <a:xfrm>
            <a:off x="928688" y="2400998"/>
            <a:ext cx="190202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Globo Esporte e Site Oficial da CBF</a:t>
            </a:r>
            <a:endParaRPr lang="en-US" sz="834" dirty="0"/>
          </a:p>
        </p:txBody>
      </p:sp>
      <p:sp>
        <p:nvSpPr>
          <p:cNvPr id="10" name="Shape 6"/>
          <p:cNvSpPr/>
          <p:nvPr/>
        </p:nvSpPr>
        <p:spPr>
          <a:xfrm>
            <a:off x="428625" y="2629598"/>
            <a:ext cx="357188" cy="357188"/>
          </a:xfrm>
          <a:prstGeom prst="ellipse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922" y="2736754"/>
            <a:ext cx="178594" cy="142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28688" y="2634955"/>
            <a:ext cx="89475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Teórica</a:t>
            </a:r>
            <a:endParaRPr lang="en-US" sz="987" dirty="0"/>
          </a:p>
        </p:txBody>
      </p:sp>
      <p:sp>
        <p:nvSpPr>
          <p:cNvPr id="13" name="Text 8"/>
          <p:cNvSpPr/>
          <p:nvPr/>
        </p:nvSpPr>
        <p:spPr>
          <a:xfrm>
            <a:off x="928688" y="2843910"/>
            <a:ext cx="200203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Curso de Python/FastAPI da Hashtag</a:t>
            </a:r>
            <a:endParaRPr lang="en-US" sz="834" dirty="0"/>
          </a:p>
        </p:txBody>
      </p:sp>
      <p:sp>
        <p:nvSpPr>
          <p:cNvPr id="14" name="Shape 9"/>
          <p:cNvSpPr/>
          <p:nvPr/>
        </p:nvSpPr>
        <p:spPr>
          <a:xfrm>
            <a:off x="428625" y="3358260"/>
            <a:ext cx="5143500" cy="1201155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0"/>
          <p:cNvSpPr/>
          <p:nvPr/>
        </p:nvSpPr>
        <p:spPr>
          <a:xfrm>
            <a:off x="428625" y="3358260"/>
            <a:ext cx="35719" cy="1201155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1"/>
          <p:cNvSpPr/>
          <p:nvPr/>
        </p:nvSpPr>
        <p:spPr>
          <a:xfrm>
            <a:off x="557213" y="3486848"/>
            <a:ext cx="488632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009C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 INOVAÇÃO</a:t>
            </a:r>
            <a:endParaRPr lang="en-US" sz="1269" dirty="0"/>
          </a:p>
        </p:txBody>
      </p:sp>
      <p:sp>
        <p:nvSpPr>
          <p:cNvPr id="17" name="Text 12"/>
          <p:cNvSpPr/>
          <p:nvPr/>
        </p:nvSpPr>
        <p:spPr>
          <a:xfrm>
            <a:off x="557213" y="3813674"/>
            <a:ext cx="488632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ts val="1600"/>
              </a:lnSpc>
              <a:buNone/>
            </a:pPr>
            <a:r>
              <a:rPr lang="en-US" sz="942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Utilização de </a:t>
            </a:r>
            <a:r>
              <a:rPr lang="en-US" sz="885" b="1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ChatGPT</a:t>
            </a:r>
            <a:r>
              <a:rPr lang="en-US" sz="942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</a:t>
            </a:r>
            <a:r>
              <a:rPr lang="en-US" sz="885" b="1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</a:t>
            </a:r>
            <a:r>
              <a:rPr lang="en-US" sz="942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gerar modelos de dados, estrutura de pastas e regras de negócio, transformando a IA em um "parceiro de codificação".</a:t>
            </a:r>
            <a:endParaRPr lang="en-US" sz="942" dirty="0"/>
          </a:p>
        </p:txBody>
      </p:sp>
      <p:sp>
        <p:nvSpPr>
          <p:cNvPr id="18" name="Shape 13"/>
          <p:cNvSpPr/>
          <p:nvPr/>
        </p:nvSpPr>
        <p:spPr>
          <a:xfrm>
            <a:off x="5857875" y="1286573"/>
            <a:ext cx="2857500" cy="3821906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4"/>
          <p:cNvSpPr/>
          <p:nvPr/>
        </p:nvSpPr>
        <p:spPr>
          <a:xfrm>
            <a:off x="5857875" y="1286573"/>
            <a:ext cx="2857500" cy="35719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0" y="1474096"/>
            <a:ext cx="285750" cy="28575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000750" y="1850929"/>
            <a:ext cx="2571750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DADOS WEB</a:t>
            </a:r>
            <a:endParaRPr lang="en-US" sz="942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2331" y="2129535"/>
            <a:ext cx="128588" cy="171450"/>
          </a:xfrm>
          <a:prstGeom prst="rect">
            <a:avLst/>
          </a:prstGeom>
        </p:spPr>
      </p:pic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8031" y="2418857"/>
            <a:ext cx="357188" cy="28575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000750" y="2795690"/>
            <a:ext cx="2571750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PROCESSAMENTO IA</a:t>
            </a:r>
            <a:endParaRPr lang="en-US" sz="942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22331" y="3074296"/>
            <a:ext cx="128588" cy="171450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8031" y="3363618"/>
            <a:ext cx="357188" cy="28575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000750" y="3740451"/>
            <a:ext cx="2571750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CÓDIGO PYTHON</a:t>
            </a:r>
            <a:endParaRPr lang="en-US" sz="942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22331" y="4019057"/>
            <a:ext cx="128588" cy="171450"/>
          </a:xfrm>
          <a:prstGeom prst="rect">
            <a:avLst/>
          </a:prstGeom>
        </p:spPr>
      </p:pic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43750" y="4308379"/>
            <a:ext cx="285750" cy="28575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6000750" y="4685212"/>
            <a:ext cx="2571750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TABELA ATUALIZADA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9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411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71438" cy="411463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7786688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STACK TECNOLÓGICO: PYTHON, FASTAPI E IA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1487072" y="1197276"/>
            <a:ext cx="714375" cy="714375"/>
          </a:xfrm>
          <a:prstGeom prst="ellipse">
            <a:avLst/>
          </a:prstGeom>
          <a:solidFill>
            <a:srgbClr val="F5F5F5"/>
          </a:solidFill>
          <a:ln w="18288">
            <a:solidFill>
              <a:srgbClr val="009C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1385" y="1411588"/>
            <a:ext cx="285750" cy="285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12038" y="2054526"/>
            <a:ext cx="1264444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BACKEND CORE</a:t>
            </a:r>
            <a:endParaRPr lang="en-US" sz="1397" dirty="0"/>
          </a:p>
        </p:txBody>
      </p:sp>
      <p:sp>
        <p:nvSpPr>
          <p:cNvPr id="9" name="Text 5"/>
          <p:cNvSpPr/>
          <p:nvPr/>
        </p:nvSpPr>
        <p:spPr>
          <a:xfrm>
            <a:off x="642938" y="2451004"/>
            <a:ext cx="24026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9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&amp; FastAPI</a:t>
            </a:r>
            <a:endParaRPr lang="en-US" sz="885" dirty="0"/>
          </a:p>
        </p:txBody>
      </p:sp>
      <p:sp>
        <p:nvSpPr>
          <p:cNvPr id="10" name="Text 6"/>
          <p:cNvSpPr/>
          <p:nvPr/>
        </p:nvSpPr>
        <p:spPr>
          <a:xfrm>
            <a:off x="642938" y="2645671"/>
            <a:ext cx="20574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Alta performance e docs automáticas.</a:t>
            </a:r>
            <a:endParaRPr lang="en-US" sz="834" dirty="0"/>
          </a:p>
        </p:txBody>
      </p:sp>
      <p:sp>
        <p:nvSpPr>
          <p:cNvPr id="11" name="Text 7"/>
          <p:cNvSpPr/>
          <p:nvPr/>
        </p:nvSpPr>
        <p:spPr>
          <a:xfrm>
            <a:off x="642938" y="2930696"/>
            <a:ext cx="24026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9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SQLAlchemy (ORM)</a:t>
            </a:r>
            <a:endParaRPr lang="en-US" sz="885" dirty="0"/>
          </a:p>
        </p:txBody>
      </p:sp>
      <p:sp>
        <p:nvSpPr>
          <p:cNvPr id="12" name="Text 8"/>
          <p:cNvSpPr/>
          <p:nvPr/>
        </p:nvSpPr>
        <p:spPr>
          <a:xfrm>
            <a:off x="642938" y="3125363"/>
            <a:ext cx="152876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Abstração segura do banco.</a:t>
            </a:r>
            <a:endParaRPr lang="en-US" sz="834" dirty="0"/>
          </a:p>
        </p:txBody>
      </p:sp>
      <p:sp>
        <p:nvSpPr>
          <p:cNvPr id="13" name="Shape 9"/>
          <p:cNvSpPr/>
          <p:nvPr/>
        </p:nvSpPr>
        <p:spPr>
          <a:xfrm>
            <a:off x="4211213" y="1197276"/>
            <a:ext cx="714375" cy="714375"/>
          </a:xfrm>
          <a:prstGeom prst="ellipse">
            <a:avLst/>
          </a:prstGeom>
          <a:solidFill>
            <a:srgbClr val="F5F5F5"/>
          </a:solidFill>
          <a:ln w="18288">
            <a:solidFill>
              <a:srgbClr val="009C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385" y="1411588"/>
            <a:ext cx="250031" cy="2857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985292" y="2054526"/>
            <a:ext cx="1166217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PERSISTÊNCIA</a:t>
            </a:r>
            <a:endParaRPr lang="en-US" sz="1397" dirty="0"/>
          </a:p>
        </p:txBody>
      </p:sp>
      <p:sp>
        <p:nvSpPr>
          <p:cNvPr id="16" name="Text 11"/>
          <p:cNvSpPr/>
          <p:nvPr/>
        </p:nvSpPr>
        <p:spPr>
          <a:xfrm>
            <a:off x="3367078" y="2451004"/>
            <a:ext cx="24026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9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SQLite</a:t>
            </a:r>
            <a:endParaRPr lang="en-US" sz="885" dirty="0"/>
          </a:p>
        </p:txBody>
      </p:sp>
      <p:sp>
        <p:nvSpPr>
          <p:cNvPr id="17" name="Text 12"/>
          <p:cNvSpPr/>
          <p:nvPr/>
        </p:nvSpPr>
        <p:spPr>
          <a:xfrm>
            <a:off x="3367078" y="2645671"/>
            <a:ext cx="191452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 e eficiente para prototipagem.</a:t>
            </a:r>
            <a:endParaRPr lang="en-US" sz="834" dirty="0"/>
          </a:p>
        </p:txBody>
      </p:sp>
      <p:sp>
        <p:nvSpPr>
          <p:cNvPr id="18" name="Text 13"/>
          <p:cNvSpPr/>
          <p:nvPr/>
        </p:nvSpPr>
        <p:spPr>
          <a:xfrm>
            <a:off x="3367078" y="2930696"/>
            <a:ext cx="24026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9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Alembic</a:t>
            </a:r>
            <a:endParaRPr lang="en-US" sz="885" dirty="0"/>
          </a:p>
        </p:txBody>
      </p:sp>
      <p:sp>
        <p:nvSpPr>
          <p:cNvPr id="19" name="Text 14"/>
          <p:cNvSpPr/>
          <p:nvPr/>
        </p:nvSpPr>
        <p:spPr>
          <a:xfrm>
            <a:off x="3367078" y="3125363"/>
            <a:ext cx="153233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Migrations e versionamento.</a:t>
            </a:r>
            <a:endParaRPr lang="en-US" sz="834" dirty="0"/>
          </a:p>
        </p:txBody>
      </p:sp>
      <p:sp>
        <p:nvSpPr>
          <p:cNvPr id="20" name="Shape 15"/>
          <p:cNvSpPr/>
          <p:nvPr/>
        </p:nvSpPr>
        <p:spPr>
          <a:xfrm>
            <a:off x="6938953" y="1197276"/>
            <a:ext cx="714375" cy="714375"/>
          </a:xfrm>
          <a:prstGeom prst="ellipse">
            <a:avLst/>
          </a:prstGeom>
          <a:solidFill>
            <a:srgbClr val="F5F5F5"/>
          </a:solidFill>
          <a:ln w="18288">
            <a:solidFill>
              <a:srgbClr val="009C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3266" y="1411588"/>
            <a:ext cx="285750" cy="2857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68334" y="2054526"/>
            <a:ext cx="2055614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INTELIGÊNCIA ARTIFICIAL</a:t>
            </a:r>
            <a:endParaRPr lang="en-US" sz="1397" dirty="0"/>
          </a:p>
        </p:txBody>
      </p:sp>
      <p:sp>
        <p:nvSpPr>
          <p:cNvPr id="23" name="Text 17"/>
          <p:cNvSpPr/>
          <p:nvPr/>
        </p:nvSpPr>
        <p:spPr>
          <a:xfrm>
            <a:off x="6091219" y="2451004"/>
            <a:ext cx="24098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9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ChatGPT (Adapta)</a:t>
            </a:r>
            <a:endParaRPr lang="en-US" sz="885" dirty="0"/>
          </a:p>
        </p:txBody>
      </p:sp>
      <p:sp>
        <p:nvSpPr>
          <p:cNvPr id="24" name="Text 18"/>
          <p:cNvSpPr/>
          <p:nvPr/>
        </p:nvSpPr>
        <p:spPr>
          <a:xfrm>
            <a:off x="6091219" y="2645671"/>
            <a:ext cx="195381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Geração de prompts e estruturação.</a:t>
            </a:r>
            <a:endParaRPr lang="en-US" sz="834" dirty="0"/>
          </a:p>
        </p:txBody>
      </p:sp>
      <p:sp>
        <p:nvSpPr>
          <p:cNvPr id="25" name="Text 19"/>
          <p:cNvSpPr/>
          <p:nvPr/>
        </p:nvSpPr>
        <p:spPr>
          <a:xfrm>
            <a:off x="6091219" y="2930696"/>
            <a:ext cx="24098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9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</a:t>
            </a:r>
            <a:endParaRPr lang="en-US" sz="885" dirty="0"/>
          </a:p>
        </p:txBody>
      </p:sp>
      <p:sp>
        <p:nvSpPr>
          <p:cNvPr id="26" name="Text 20"/>
          <p:cNvSpPr/>
          <p:nvPr/>
        </p:nvSpPr>
        <p:spPr>
          <a:xfrm>
            <a:off x="6091219" y="3125363"/>
            <a:ext cx="2012752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Sugestões e autocompletar no editor.</a:t>
            </a:r>
            <a:endParaRPr lang="en-US" sz="834" dirty="0"/>
          </a:p>
        </p:txBody>
      </p:sp>
      <p:sp>
        <p:nvSpPr>
          <p:cNvPr id="27" name="Shape 21"/>
          <p:cNvSpPr/>
          <p:nvPr/>
        </p:nvSpPr>
        <p:spPr>
          <a:xfrm>
            <a:off x="571500" y="4691658"/>
            <a:ext cx="8001000" cy="308967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2"/>
          <p:cNvSpPr/>
          <p:nvPr/>
        </p:nvSpPr>
        <p:spPr>
          <a:xfrm>
            <a:off x="714375" y="4777383"/>
            <a:ext cx="107156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 do Projeto</a:t>
            </a:r>
            <a:endParaRPr lang="en-US" sz="834" dirty="0"/>
          </a:p>
        </p:txBody>
      </p:sp>
      <p:sp>
        <p:nvSpPr>
          <p:cNvPr id="29" name="Text 23"/>
          <p:cNvSpPr/>
          <p:nvPr/>
        </p:nvSpPr>
        <p:spPr>
          <a:xfrm>
            <a:off x="4909542" y="4777383"/>
            <a:ext cx="352008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D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Organização em camadas: models, routers, services e schemas</a:t>
            </a:r>
            <a:endParaRPr lang="en-US" sz="78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411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428625" y="285750"/>
            <a:ext cx="71438" cy="411463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642938" y="285750"/>
            <a:ext cx="8072438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ESTRUTURA DE DADOS: 9 TABELAS INTERCONECTADAS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428625" y="840088"/>
            <a:ext cx="4874884" cy="3643313"/>
          </a:xfrm>
          <a:prstGeom prst="rect">
            <a:avLst/>
          </a:prstGeom>
          <a:solidFill>
            <a:srgbClr val="F5F5F5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840088"/>
            <a:ext cx="4869191" cy="364331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592246" y="4263730"/>
            <a:ext cx="1634133" cy="176808"/>
          </a:xfrm>
          <a:prstGeom prst="rect">
            <a:avLst/>
          </a:prstGeom>
          <a:solidFill>
            <a:srgbClr val="009C3B">
              <a:alpha val="9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5"/>
          <p:cNvSpPr/>
          <p:nvPr/>
        </p:nvSpPr>
        <p:spPr>
          <a:xfrm>
            <a:off x="3592246" y="4263730"/>
            <a:ext cx="1634133" cy="176808"/>
          </a:xfrm>
          <a:prstGeom prst="rect">
            <a:avLst/>
          </a:prstGeom>
          <a:noFill/>
          <a:ln/>
        </p:spPr>
        <p:txBody>
          <a:bodyPr wrap="square" lIns="102108" tIns="42545" rIns="102108" bIns="42545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Diagrama EER (MySQL Workbench)</a:t>
            </a:r>
            <a:endParaRPr lang="en-US" sz="584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6429" y="1349080"/>
            <a:ext cx="128588" cy="128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826454" y="1297288"/>
            <a:ext cx="125730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NÚCLEO DO SISTEMA</a:t>
            </a:r>
            <a:endParaRPr lang="en-US" sz="1159" dirty="0"/>
          </a:p>
        </p:txBody>
      </p:sp>
      <p:sp>
        <p:nvSpPr>
          <p:cNvPr id="12" name="Text 7"/>
          <p:cNvSpPr/>
          <p:nvPr/>
        </p:nvSpPr>
        <p:spPr>
          <a:xfrm>
            <a:off x="5626429" y="1572323"/>
            <a:ext cx="308894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rodada</a:t>
            </a:r>
            <a:r>
              <a:rPr lang="en-US" sz="834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Armazena jogos, placares e datas.
 </a:t>
            </a:r>
            <a:r>
              <a:rPr lang="en-US" sz="784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classificacao_geral</a:t>
            </a:r>
            <a:r>
              <a:rPr lang="en-US" sz="834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Tabela atualizada do campeonato.</a:t>
            </a:r>
            <a:endParaRPr lang="en-US" sz="834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6429" y="2052740"/>
            <a:ext cx="96441" cy="1285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794307" y="2000948"/>
            <a:ext cx="1016198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ENTIDADES BASE</a:t>
            </a:r>
            <a:endParaRPr lang="en-US" sz="1159" dirty="0"/>
          </a:p>
        </p:txBody>
      </p:sp>
      <p:sp>
        <p:nvSpPr>
          <p:cNvPr id="15" name="Text 9"/>
          <p:cNvSpPr/>
          <p:nvPr/>
        </p:nvSpPr>
        <p:spPr>
          <a:xfrm>
            <a:off x="5626429" y="2275982"/>
            <a:ext cx="308894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clube</a:t>
            </a:r>
            <a:r>
              <a:rPr lang="en-US" sz="834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784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estádio</a:t>
            </a:r>
            <a:r>
              <a:rPr lang="en-US" sz="834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784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cidade</a:t>
            </a:r>
            <a:r>
              <a:rPr lang="en-US" sz="834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Dados cadastrais imutáveis que sustentam as relações.</a:t>
            </a:r>
            <a:endParaRPr lang="en-US" sz="834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6429" y="2756399"/>
            <a:ext cx="128588" cy="1285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826454" y="2704607"/>
            <a:ext cx="69473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DISCIPLINA</a:t>
            </a:r>
            <a:endParaRPr lang="en-US" sz="1159" dirty="0"/>
          </a:p>
        </p:txBody>
      </p:sp>
      <p:sp>
        <p:nvSpPr>
          <p:cNvPr id="18" name="Text 11"/>
          <p:cNvSpPr/>
          <p:nvPr/>
        </p:nvSpPr>
        <p:spPr>
          <a:xfrm>
            <a:off x="5626429" y="2979641"/>
            <a:ext cx="308894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cartao</a:t>
            </a:r>
            <a:r>
              <a:rPr lang="en-US" sz="834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784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amarelo</a:t>
            </a:r>
            <a:r>
              <a:rPr lang="en-US" sz="834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784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vermelho</a:t>
            </a:r>
            <a:r>
              <a:rPr lang="en-US" sz="834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Rastreamento detalhado de infrações para estatísticas.</a:t>
            </a:r>
            <a:endParaRPr lang="en-US" sz="834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26429" y="3460059"/>
            <a:ext cx="112514" cy="12858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810380" y="3408266"/>
            <a:ext cx="475059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ACESSO</a:t>
            </a:r>
            <a:endParaRPr lang="en-US" sz="1159" dirty="0"/>
          </a:p>
        </p:txBody>
      </p:sp>
      <p:sp>
        <p:nvSpPr>
          <p:cNvPr id="21" name="Text 13"/>
          <p:cNvSpPr/>
          <p:nvPr/>
        </p:nvSpPr>
        <p:spPr>
          <a:xfrm>
            <a:off x="5626429" y="3683301"/>
            <a:ext cx="308894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usuario</a:t>
            </a:r>
            <a:r>
              <a:rPr lang="en-US" sz="834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Gerenciamento de autenticação e permissões do sistema.</a:t>
            </a:r>
            <a:endParaRPr lang="en-US" sz="8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411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71438" cy="411463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7786688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FASE 1 - PLANEJAMENTO: DO CONCEITO AO MODELO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054401"/>
            <a:ext cx="37861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 de escrever qualquer linha de código, o sucesso do projeto foi definido na etapa de planejamento. O objetivo era traduzir as regras complexas do Campeonato Brasileiro em uma estrutura de dados sólida.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2340276"/>
            <a:ext cx="37861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qualidade desta fase foi crucial: um modelo bem definido resultou em um código gerado pela IA muito mais preciso, reduzindo drasticamente a necessidade de refatoração posterior.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71500" y="3397551"/>
            <a:ext cx="3786188" cy="1057973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571500" y="3397551"/>
            <a:ext cx="35719" cy="1057973"/>
          </a:xfrm>
          <a:prstGeom prst="rect">
            <a:avLst/>
          </a:prstGeom>
          <a:solidFill>
            <a:srgbClr val="FFDF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85800" y="3511851"/>
            <a:ext cx="3557588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FFDF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INSIGHT CHAVE</a:t>
            </a:r>
            <a:endParaRPr lang="en-US" sz="1159" dirty="0"/>
          </a:p>
        </p:txBody>
      </p:sp>
      <p:sp>
        <p:nvSpPr>
          <p:cNvPr id="11" name="Text 8"/>
          <p:cNvSpPr/>
          <p:nvPr/>
        </p:nvSpPr>
        <p:spPr>
          <a:xfrm>
            <a:off x="685800" y="3801173"/>
            <a:ext cx="3557588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script SQL gerado nesta fase serviu como a "linguagem comum" para comunicar a estrutura desejada ao ChatGPT no primeiro prompt.</a:t>
            </a:r>
            <a:endParaRPr lang="en-US" sz="942" dirty="0"/>
          </a:p>
        </p:txBody>
      </p:sp>
      <p:sp>
        <p:nvSpPr>
          <p:cNvPr id="12" name="Shape 9"/>
          <p:cNvSpPr/>
          <p:nvPr/>
        </p:nvSpPr>
        <p:spPr>
          <a:xfrm>
            <a:off x="4786313" y="1410360"/>
            <a:ext cx="457200" cy="457200"/>
          </a:xfrm>
          <a:prstGeom prst="ellipse">
            <a:avLst/>
          </a:prstGeom>
          <a:solidFill>
            <a:srgbClr val="009C3B"/>
          </a:solidFill>
          <a:ln w="27432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8472" y="1553235"/>
            <a:ext cx="192881" cy="1714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57825" y="1453223"/>
            <a:ext cx="311467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1. MODELAGEM EER</a:t>
            </a:r>
            <a:endParaRPr lang="en-US" sz="1269" dirty="0"/>
          </a:p>
        </p:txBody>
      </p:sp>
      <p:sp>
        <p:nvSpPr>
          <p:cNvPr id="15" name="Text 11"/>
          <p:cNvSpPr/>
          <p:nvPr/>
        </p:nvSpPr>
        <p:spPr>
          <a:xfrm>
            <a:off x="5457825" y="1765762"/>
            <a:ext cx="31146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Criação do diagrama Entidade-Relacionamento no MySQL Workbench, definindo as 9 tabelas principais e suas conexões.</a:t>
            </a:r>
            <a:endParaRPr lang="en-US" sz="834" dirty="0"/>
          </a:p>
        </p:txBody>
      </p:sp>
      <p:sp>
        <p:nvSpPr>
          <p:cNvPr id="16" name="Shape 12"/>
          <p:cNvSpPr/>
          <p:nvPr/>
        </p:nvSpPr>
        <p:spPr>
          <a:xfrm>
            <a:off x="4786313" y="2417239"/>
            <a:ext cx="457200" cy="457200"/>
          </a:xfrm>
          <a:prstGeom prst="ellipse">
            <a:avLst/>
          </a:prstGeom>
          <a:solidFill>
            <a:srgbClr val="009C3B"/>
          </a:solidFill>
          <a:ln w="27432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2560114"/>
            <a:ext cx="171450" cy="1714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57825" y="2460101"/>
            <a:ext cx="311467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2. REGRAS DE NEGÓCIO</a:t>
            </a:r>
            <a:endParaRPr lang="en-US" sz="1269" dirty="0"/>
          </a:p>
        </p:txBody>
      </p:sp>
      <p:sp>
        <p:nvSpPr>
          <p:cNvPr id="19" name="Text 14"/>
          <p:cNvSpPr/>
          <p:nvPr/>
        </p:nvSpPr>
        <p:spPr>
          <a:xfrm>
            <a:off x="5457825" y="2772640"/>
            <a:ext cx="31146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Incorporação das regras oficiais: pontuação (3/1/0), critérios de desempate e lógica de cartões diretamente na estrutura.</a:t>
            </a:r>
            <a:endParaRPr lang="en-US" sz="834" dirty="0"/>
          </a:p>
        </p:txBody>
      </p:sp>
      <p:sp>
        <p:nvSpPr>
          <p:cNvPr id="20" name="Shape 15"/>
          <p:cNvSpPr/>
          <p:nvPr/>
        </p:nvSpPr>
        <p:spPr>
          <a:xfrm>
            <a:off x="4786313" y="3424117"/>
            <a:ext cx="457200" cy="457200"/>
          </a:xfrm>
          <a:prstGeom prst="ellipse">
            <a:avLst/>
          </a:prstGeom>
          <a:solidFill>
            <a:srgbClr val="009C3B"/>
          </a:solidFill>
          <a:ln w="27432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0619" y="3566992"/>
            <a:ext cx="128588" cy="1714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57825" y="3466979"/>
            <a:ext cx="311467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3. EXPORTAÇÃO SQL</a:t>
            </a:r>
            <a:endParaRPr lang="en-US" sz="1269" dirty="0"/>
          </a:p>
        </p:txBody>
      </p:sp>
      <p:sp>
        <p:nvSpPr>
          <p:cNvPr id="23" name="Text 17"/>
          <p:cNvSpPr/>
          <p:nvPr/>
        </p:nvSpPr>
        <p:spPr>
          <a:xfrm>
            <a:off x="5457825" y="3779518"/>
            <a:ext cx="31146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Geração do script "CREATE TABLE" completo. Este arquivo se tornou a base técnica para o prompt da IA.</a:t>
            </a:r>
            <a:endParaRPr lang="en-US" sz="8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411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71438" cy="411463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7786688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FASE 2: ESTRUTURANDO O PROMPT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127624"/>
            <a:ext cx="228600" cy="228600"/>
          </a:xfrm>
          <a:prstGeom prst="ellipse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571500" y="1127624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885825" y="1125838"/>
            <a:ext cx="632222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CONTEXTO</a:t>
            </a:r>
            <a:endParaRPr lang="en-US" sz="1159" dirty="0"/>
          </a:p>
        </p:txBody>
      </p:sp>
      <p:sp>
        <p:nvSpPr>
          <p:cNvPr id="9" name="Text 6"/>
          <p:cNvSpPr/>
          <p:nvPr/>
        </p:nvSpPr>
        <p:spPr>
          <a:xfrm>
            <a:off x="571500" y="1429448"/>
            <a:ext cx="2297888" cy="480027"/>
          </a:xfrm>
          <a:prstGeom prst="rect">
            <a:avLst/>
          </a:prstGeom>
          <a:noFill/>
          <a:ln/>
        </p:spPr>
        <p:txBody>
          <a:bodyPr wrap="square" lIns="374142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Definição clara do cenário: projeto backend em Python com FastAPI e SQLAlchemy.</a:t>
            </a:r>
            <a:endParaRPr lang="en-US" sz="834" dirty="0"/>
          </a:p>
        </p:txBody>
      </p:sp>
      <p:sp>
        <p:nvSpPr>
          <p:cNvPr id="10" name="Shape 7"/>
          <p:cNvSpPr/>
          <p:nvPr/>
        </p:nvSpPr>
        <p:spPr>
          <a:xfrm>
            <a:off x="3083700" y="1127624"/>
            <a:ext cx="228600" cy="228600"/>
          </a:xfrm>
          <a:prstGeom prst="ellipse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3083700" y="1127624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3398025" y="1125838"/>
            <a:ext cx="575072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</a:t>
            </a:r>
            <a:endParaRPr lang="en-US" sz="1159" dirty="0"/>
          </a:p>
        </p:txBody>
      </p:sp>
      <p:sp>
        <p:nvSpPr>
          <p:cNvPr id="13" name="Text 10"/>
          <p:cNvSpPr/>
          <p:nvPr/>
        </p:nvSpPr>
        <p:spPr>
          <a:xfrm>
            <a:off x="3083700" y="1429448"/>
            <a:ext cx="2297916" cy="480027"/>
          </a:xfrm>
          <a:prstGeom prst="rect">
            <a:avLst/>
          </a:prstGeom>
          <a:noFill/>
          <a:ln/>
        </p:spPr>
        <p:txBody>
          <a:bodyPr wrap="square" lIns="374142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Instrução principal: gerar modelos de dados e estrutura de pastas organizada.</a:t>
            </a:r>
            <a:endParaRPr lang="en-US" sz="834" dirty="0"/>
          </a:p>
        </p:txBody>
      </p:sp>
      <p:sp>
        <p:nvSpPr>
          <p:cNvPr id="14" name="Shape 11"/>
          <p:cNvSpPr/>
          <p:nvPr/>
        </p:nvSpPr>
        <p:spPr>
          <a:xfrm>
            <a:off x="571500" y="2140920"/>
            <a:ext cx="228600" cy="228600"/>
          </a:xfrm>
          <a:prstGeom prst="ellipse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71500" y="2140920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885825" y="2139135"/>
            <a:ext cx="1241227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DETALHES TÉCNICOS</a:t>
            </a:r>
            <a:endParaRPr lang="en-US" sz="1159" dirty="0"/>
          </a:p>
        </p:txBody>
      </p:sp>
      <p:sp>
        <p:nvSpPr>
          <p:cNvPr id="17" name="Text 14"/>
          <p:cNvSpPr/>
          <p:nvPr/>
        </p:nvSpPr>
        <p:spPr>
          <a:xfrm>
            <a:off x="571500" y="2442744"/>
            <a:ext cx="2297888" cy="480027"/>
          </a:xfrm>
          <a:prstGeom prst="rect">
            <a:avLst/>
          </a:prstGeom>
          <a:noFill/>
          <a:ln/>
        </p:spPr>
        <p:txBody>
          <a:bodyPr wrap="square" lIns="374142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Referências específicas (curso Hashtag) e requisitos de banco de dados.</a:t>
            </a:r>
            <a:endParaRPr lang="en-US" sz="834" dirty="0"/>
          </a:p>
        </p:txBody>
      </p:sp>
      <p:sp>
        <p:nvSpPr>
          <p:cNvPr id="18" name="Shape 15"/>
          <p:cNvSpPr/>
          <p:nvPr/>
        </p:nvSpPr>
        <p:spPr>
          <a:xfrm>
            <a:off x="3083700" y="2140920"/>
            <a:ext cx="228600" cy="228600"/>
          </a:xfrm>
          <a:prstGeom prst="ellipse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3083700" y="2140920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3398025" y="2139135"/>
            <a:ext cx="634008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EXEMPLOS</a:t>
            </a:r>
            <a:endParaRPr lang="en-US" sz="1159" dirty="0"/>
          </a:p>
        </p:txBody>
      </p:sp>
      <p:sp>
        <p:nvSpPr>
          <p:cNvPr id="21" name="Text 18"/>
          <p:cNvSpPr/>
          <p:nvPr/>
        </p:nvSpPr>
        <p:spPr>
          <a:xfrm>
            <a:off x="3083700" y="2442744"/>
            <a:ext cx="2297916" cy="320018"/>
          </a:xfrm>
          <a:prstGeom prst="rect">
            <a:avLst/>
          </a:prstGeom>
          <a:noFill/>
          <a:ln/>
        </p:spPr>
        <p:txBody>
          <a:bodyPr wrap="square" lIns="374142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Fornecimento de código base para guiar o estilo e padrão esperado.</a:t>
            </a:r>
            <a:endParaRPr lang="en-US" sz="834" dirty="0"/>
          </a:p>
        </p:txBody>
      </p:sp>
      <p:sp>
        <p:nvSpPr>
          <p:cNvPr id="22" name="Shape 19"/>
          <p:cNvSpPr/>
          <p:nvPr/>
        </p:nvSpPr>
        <p:spPr>
          <a:xfrm>
            <a:off x="571500" y="3154217"/>
            <a:ext cx="228600" cy="228600"/>
          </a:xfrm>
          <a:prstGeom prst="ellipse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571500" y="3154217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885825" y="3152431"/>
            <a:ext cx="1180505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FORMATO DE SAÍDA</a:t>
            </a:r>
            <a:endParaRPr lang="en-US" sz="1159" dirty="0"/>
          </a:p>
        </p:txBody>
      </p:sp>
      <p:sp>
        <p:nvSpPr>
          <p:cNvPr id="25" name="Text 22"/>
          <p:cNvSpPr/>
          <p:nvPr/>
        </p:nvSpPr>
        <p:spPr>
          <a:xfrm>
            <a:off x="571500" y="3456040"/>
            <a:ext cx="2297888" cy="480027"/>
          </a:xfrm>
          <a:prstGeom prst="rect">
            <a:avLst/>
          </a:prstGeom>
          <a:noFill/>
          <a:ln/>
        </p:spPr>
        <p:txBody>
          <a:bodyPr wrap="square" lIns="374142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Especificação exata: arquivo </a:t>
            </a:r>
            <a:r>
              <a:rPr lang="en-US" sz="784" b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cartao_models.py</a:t>
            </a:r>
            <a:r>
              <a:rPr lang="en-US" sz="834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 atributos tipados.</a:t>
            </a:r>
            <a:endParaRPr lang="en-US" sz="834" dirty="0"/>
          </a:p>
        </p:txBody>
      </p:sp>
      <p:sp>
        <p:nvSpPr>
          <p:cNvPr id="26" name="Shape 23"/>
          <p:cNvSpPr/>
          <p:nvPr/>
        </p:nvSpPr>
        <p:spPr>
          <a:xfrm>
            <a:off x="3083700" y="3154217"/>
            <a:ext cx="228600" cy="228600"/>
          </a:xfrm>
          <a:prstGeom prst="ellipse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3083700" y="3154217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</a:t>
            </a:r>
            <a:endParaRPr lang="en-US" sz="885" dirty="0"/>
          </a:p>
        </p:txBody>
      </p:sp>
      <p:sp>
        <p:nvSpPr>
          <p:cNvPr id="28" name="Text 25"/>
          <p:cNvSpPr/>
          <p:nvPr/>
        </p:nvSpPr>
        <p:spPr>
          <a:xfrm>
            <a:off x="3398025" y="3152431"/>
            <a:ext cx="750094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RESTRIÇÕES</a:t>
            </a:r>
            <a:endParaRPr lang="en-US" sz="1159" dirty="0"/>
          </a:p>
        </p:txBody>
      </p:sp>
      <p:sp>
        <p:nvSpPr>
          <p:cNvPr id="29" name="Text 26"/>
          <p:cNvSpPr/>
          <p:nvPr/>
        </p:nvSpPr>
        <p:spPr>
          <a:xfrm>
            <a:off x="3083700" y="3456040"/>
            <a:ext cx="2297916" cy="320018"/>
          </a:xfrm>
          <a:prstGeom prst="rect">
            <a:avLst/>
          </a:prstGeom>
          <a:noFill/>
          <a:ln/>
        </p:spPr>
        <p:txBody>
          <a:bodyPr wrap="square" lIns="374142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Limitações claras: "Não simplifique", use nomes descritivos completos.</a:t>
            </a:r>
            <a:endParaRPr lang="en-US" sz="834" dirty="0"/>
          </a:p>
        </p:txBody>
      </p:sp>
      <p:sp>
        <p:nvSpPr>
          <p:cNvPr id="30" name="Shape 27"/>
          <p:cNvSpPr/>
          <p:nvPr/>
        </p:nvSpPr>
        <p:spPr>
          <a:xfrm>
            <a:off x="5738803" y="1125838"/>
            <a:ext cx="2833697" cy="2825576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8"/>
          <p:cNvSpPr/>
          <p:nvPr/>
        </p:nvSpPr>
        <p:spPr>
          <a:xfrm>
            <a:off x="5738803" y="1125838"/>
            <a:ext cx="2833697" cy="35719"/>
          </a:xfrm>
          <a:prstGeom prst="rect">
            <a:avLst/>
          </a:prstGeom>
          <a:solidFill>
            <a:srgbClr val="FFDF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29"/>
          <p:cNvSpPr/>
          <p:nvPr/>
        </p:nvSpPr>
        <p:spPr>
          <a:xfrm>
            <a:off x="5953116" y="1340151"/>
            <a:ext cx="2405072" cy="33397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ANATOMIA DO PROMPT</a:t>
            </a:r>
            <a:endParaRPr lang="en-US" sz="1269" dirty="0"/>
          </a:p>
        </p:txBody>
      </p:sp>
      <p:sp>
        <p:nvSpPr>
          <p:cNvPr id="33" name="Text 30"/>
          <p:cNvSpPr/>
          <p:nvPr/>
        </p:nvSpPr>
        <p:spPr>
          <a:xfrm>
            <a:off x="5953116" y="1816996"/>
            <a:ext cx="2405072" cy="1920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"Atue como um </a:t>
            </a:r>
            <a:r>
              <a:rPr lang="en-US" sz="683" b="1" dirty="0">
                <a:solidFill>
                  <a:srgbClr val="009C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Especialista Python</a:t>
            </a:r>
            <a:r>
              <a:rPr lang="en-US" sz="727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..."
 "O objetivo é criar </a:t>
            </a:r>
            <a:r>
              <a:rPr lang="en-US" sz="683" b="1" dirty="0">
                <a:solidFill>
                  <a:srgbClr val="FFD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 SQLAlchemy</a:t>
            </a:r>
            <a:r>
              <a:rPr lang="en-US" sz="727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..."
 "Siga o padrão do arquivo </a:t>
            </a:r>
            <a:r>
              <a:rPr lang="en-US" sz="683" b="1" dirty="0">
                <a:solidFill>
                  <a:srgbClr val="009C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exemplo.py</a:t>
            </a:r>
            <a:r>
              <a:rPr lang="en-US" sz="727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abaixo..."
 "A saída deve conter </a:t>
            </a:r>
            <a:r>
              <a:rPr lang="en-US" sz="683" b="1" dirty="0">
                <a:solidFill>
                  <a:srgbClr val="FFD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tipagem forte</a:t>
            </a:r>
            <a:r>
              <a:rPr lang="en-US" sz="727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 docstrings..."
 "NÃO abrevie nomes de variáveis."</a:t>
            </a:r>
            <a:endParaRPr lang="en-US" sz="72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342900"/>
            <a:ext cx="8286750" cy="411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428625" y="342900"/>
            <a:ext cx="71438" cy="411463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642938" y="342900"/>
            <a:ext cx="8072438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RESULTADO: 390 LINHAS DE CÓDIGO SEM ERROS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428625" y="1040113"/>
            <a:ext cx="2857500" cy="2571750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428625" y="1040113"/>
            <a:ext cx="2857500" cy="323255"/>
          </a:xfrm>
          <a:prstGeom prst="rect">
            <a:avLst/>
          </a:prstGeom>
          <a:solidFill>
            <a:srgbClr val="2525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428625" y="1356224"/>
            <a:ext cx="2857500" cy="7144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514350" y="1097263"/>
            <a:ext cx="1114425" cy="201811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514350" y="1097263"/>
            <a:ext cx="1114425" cy="14288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514350" y="1097263"/>
            <a:ext cx="1114425" cy="201811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CCCCC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cartao_models.py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514350" y="1427662"/>
            <a:ext cx="26860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85858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1</a:t>
            </a:r>
            <a:r>
              <a:rPr lang="en-US" sz="621" dirty="0">
                <a:solidFill>
                  <a:srgbClr val="C586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from</a:t>
            </a:r>
            <a:r>
              <a:rPr lang="en-US" sz="621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sqlalchemy </a:t>
            </a:r>
            <a:r>
              <a:rPr lang="en-US" sz="621" dirty="0">
                <a:solidFill>
                  <a:srgbClr val="C586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import</a:t>
            </a:r>
            <a:r>
              <a:rPr lang="en-US" sz="621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Column, Integer</a:t>
            </a:r>
            <a:endParaRPr lang="en-US" sz="621" dirty="0"/>
          </a:p>
        </p:txBody>
      </p:sp>
      <p:sp>
        <p:nvSpPr>
          <p:cNvPr id="13" name="Text 10"/>
          <p:cNvSpPr/>
          <p:nvPr/>
        </p:nvSpPr>
        <p:spPr>
          <a:xfrm>
            <a:off x="514350" y="1556249"/>
            <a:ext cx="26860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85858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2</a:t>
            </a:r>
            <a:r>
              <a:rPr lang="en-US" sz="621" dirty="0">
                <a:solidFill>
                  <a:srgbClr val="C586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from</a:t>
            </a:r>
            <a:r>
              <a:rPr lang="en-US" sz="621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sqlalchemy </a:t>
            </a:r>
            <a:r>
              <a:rPr lang="en-US" sz="621" dirty="0">
                <a:solidFill>
                  <a:srgbClr val="C586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import</a:t>
            </a:r>
            <a:r>
              <a:rPr lang="en-US" sz="621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ForeignKey</a:t>
            </a:r>
            <a:endParaRPr lang="en-US" sz="621" dirty="0"/>
          </a:p>
        </p:txBody>
      </p:sp>
      <p:sp>
        <p:nvSpPr>
          <p:cNvPr id="14" name="Text 11"/>
          <p:cNvSpPr/>
          <p:nvPr/>
        </p:nvSpPr>
        <p:spPr>
          <a:xfrm>
            <a:off x="514350" y="1684837"/>
            <a:ext cx="26860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85858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3</a:t>
            </a:r>
            <a:r>
              <a:rPr lang="en-US" sz="621" dirty="0">
                <a:solidFill>
                  <a:srgbClr val="C586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from</a:t>
            </a:r>
            <a:r>
              <a:rPr lang="en-US" sz="621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database </a:t>
            </a:r>
            <a:r>
              <a:rPr lang="en-US" sz="621" dirty="0">
                <a:solidFill>
                  <a:srgbClr val="C586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import</a:t>
            </a:r>
            <a:r>
              <a:rPr lang="en-US" sz="621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Base</a:t>
            </a:r>
            <a:endParaRPr lang="en-US" sz="621" dirty="0"/>
          </a:p>
        </p:txBody>
      </p:sp>
      <p:sp>
        <p:nvSpPr>
          <p:cNvPr id="15" name="Text 12"/>
          <p:cNvSpPr/>
          <p:nvPr/>
        </p:nvSpPr>
        <p:spPr>
          <a:xfrm>
            <a:off x="514350" y="1820568"/>
            <a:ext cx="5179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85858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4</a:t>
            </a:r>
            <a:endParaRPr lang="en-US" sz="621" dirty="0"/>
          </a:p>
        </p:txBody>
      </p:sp>
      <p:sp>
        <p:nvSpPr>
          <p:cNvPr id="16" name="Text 13"/>
          <p:cNvSpPr/>
          <p:nvPr/>
        </p:nvSpPr>
        <p:spPr>
          <a:xfrm>
            <a:off x="514350" y="1942012"/>
            <a:ext cx="26860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85858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5</a:t>
            </a:r>
            <a:r>
              <a:rPr lang="en-US" sz="621" dirty="0">
                <a:solidFill>
                  <a:srgbClr val="C586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class</a:t>
            </a:r>
            <a:r>
              <a:rPr lang="en-US" sz="621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62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Cartao</a:t>
            </a:r>
            <a:r>
              <a:rPr lang="en-US" sz="621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(Base):</a:t>
            </a:r>
            <a:endParaRPr lang="en-US" sz="621" dirty="0"/>
          </a:p>
        </p:txBody>
      </p:sp>
      <p:sp>
        <p:nvSpPr>
          <p:cNvPr id="17" name="Text 14"/>
          <p:cNvSpPr/>
          <p:nvPr/>
        </p:nvSpPr>
        <p:spPr>
          <a:xfrm>
            <a:off x="514350" y="2070599"/>
            <a:ext cx="26860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85858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6</a:t>
            </a:r>
            <a:r>
              <a:rPr lang="en-US" sz="621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621" dirty="0">
                <a:solidFill>
                  <a:srgbClr val="CE917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"""Modelo para cartões"""</a:t>
            </a:r>
            <a:endParaRPr lang="en-US" sz="621" dirty="0"/>
          </a:p>
        </p:txBody>
      </p:sp>
      <p:sp>
        <p:nvSpPr>
          <p:cNvPr id="18" name="Text 15"/>
          <p:cNvSpPr/>
          <p:nvPr/>
        </p:nvSpPr>
        <p:spPr>
          <a:xfrm>
            <a:off x="514350" y="2199187"/>
            <a:ext cx="26860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85858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7</a:t>
            </a:r>
            <a:r>
              <a:rPr lang="en-US" sz="621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__tablename__ = </a:t>
            </a:r>
            <a:r>
              <a:rPr lang="en-US" sz="621" dirty="0">
                <a:solidFill>
                  <a:srgbClr val="CE917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'cartao'</a:t>
            </a:r>
            <a:endParaRPr lang="en-US" sz="621" dirty="0"/>
          </a:p>
        </p:txBody>
      </p:sp>
      <p:sp>
        <p:nvSpPr>
          <p:cNvPr id="19" name="Text 16"/>
          <p:cNvSpPr/>
          <p:nvPr/>
        </p:nvSpPr>
        <p:spPr>
          <a:xfrm>
            <a:off x="514350" y="2334918"/>
            <a:ext cx="5179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85858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8</a:t>
            </a:r>
            <a:endParaRPr lang="en-US" sz="621" dirty="0"/>
          </a:p>
        </p:txBody>
      </p:sp>
      <p:sp>
        <p:nvSpPr>
          <p:cNvPr id="20" name="Text 17"/>
          <p:cNvSpPr/>
          <p:nvPr/>
        </p:nvSpPr>
        <p:spPr>
          <a:xfrm>
            <a:off x="514350" y="2456362"/>
            <a:ext cx="26860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85858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9</a:t>
            </a:r>
            <a:r>
              <a:rPr lang="en-US" sz="621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id = Column(Integer, primary_key=</a:t>
            </a:r>
            <a:r>
              <a:rPr lang="en-US" sz="621" dirty="0">
                <a:solidFill>
                  <a:srgbClr val="C586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True</a:t>
            </a:r>
            <a:r>
              <a:rPr lang="en-US" sz="621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</a:t>
            </a:r>
            <a:endParaRPr lang="en-US" sz="621" dirty="0"/>
          </a:p>
        </p:txBody>
      </p:sp>
      <p:sp>
        <p:nvSpPr>
          <p:cNvPr id="21" name="Text 18"/>
          <p:cNvSpPr/>
          <p:nvPr/>
        </p:nvSpPr>
        <p:spPr>
          <a:xfrm>
            <a:off x="514350" y="2584949"/>
            <a:ext cx="26860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85858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10</a:t>
            </a:r>
            <a:r>
              <a:rPr lang="en-US" sz="621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rod_qtd_vermelho = Column(Integer)</a:t>
            </a:r>
            <a:endParaRPr lang="en-US" sz="621" dirty="0"/>
          </a:p>
        </p:txBody>
      </p:sp>
      <p:sp>
        <p:nvSpPr>
          <p:cNvPr id="22" name="Text 19"/>
          <p:cNvSpPr/>
          <p:nvPr/>
        </p:nvSpPr>
        <p:spPr>
          <a:xfrm>
            <a:off x="514350" y="2713537"/>
            <a:ext cx="26860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85858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11</a:t>
            </a:r>
            <a:r>
              <a:rPr lang="en-US" sz="621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621" dirty="0">
                <a:solidFill>
                  <a:srgbClr val="6A99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 ... mais 380 linhas ...</a:t>
            </a:r>
            <a:endParaRPr lang="en-US" sz="621" dirty="0"/>
          </a:p>
        </p:txBody>
      </p:sp>
      <p:sp>
        <p:nvSpPr>
          <p:cNvPr id="23" name="Text 20"/>
          <p:cNvSpPr/>
          <p:nvPr/>
        </p:nvSpPr>
        <p:spPr>
          <a:xfrm>
            <a:off x="514350" y="2842124"/>
            <a:ext cx="26860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85858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390</a:t>
            </a:r>
            <a:r>
              <a:rPr lang="en-US" sz="621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621" dirty="0">
                <a:solidFill>
                  <a:srgbClr val="C586C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def</a:t>
            </a:r>
            <a:r>
              <a:rPr lang="en-US" sz="621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62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__init__</a:t>
            </a:r>
            <a:r>
              <a:rPr lang="en-US" sz="621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(self, **kwargs):</a:t>
            </a:r>
            <a:endParaRPr lang="en-US" sz="621" dirty="0"/>
          </a:p>
        </p:txBody>
      </p:sp>
      <p:sp>
        <p:nvSpPr>
          <p:cNvPr id="24" name="Shape 21"/>
          <p:cNvSpPr/>
          <p:nvPr/>
        </p:nvSpPr>
        <p:spPr>
          <a:xfrm rot="-300000">
            <a:off x="2037755" y="3158235"/>
            <a:ext cx="1362670" cy="353616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300000">
            <a:off x="2325672" y="3302532"/>
            <a:ext cx="142875" cy="142875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 rot="-300000">
            <a:off x="2467277" y="3250219"/>
            <a:ext cx="3393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 rot="-300000">
            <a:off x="2501002" y="3245472"/>
            <a:ext cx="75009" cy="2107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 rot="-300000">
            <a:off x="2575726" y="3238934"/>
            <a:ext cx="75009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 rot="-300000">
            <a:off x="2650440" y="3232163"/>
            <a:ext cx="80367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 rot="-300000">
            <a:off x="2730501" y="3225159"/>
            <a:ext cx="80367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 rot="-300000">
            <a:off x="2810587" y="3218699"/>
            <a:ext cx="67866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 rot="-300000">
            <a:off x="2878180" y="3212473"/>
            <a:ext cx="75010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 rot="-300000">
            <a:off x="2952894" y="3205702"/>
            <a:ext cx="80367" cy="2107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 rot="-300000">
            <a:off x="3032955" y="3198697"/>
            <a:ext cx="80367" cy="2107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3571875" y="1483556"/>
            <a:ext cx="5143500" cy="38219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QUALIDADE TÉCNICA VERIFICADA</a:t>
            </a:r>
            <a:endParaRPr lang="en-US" sz="1397" dirty="0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1875" y="2110420"/>
            <a:ext cx="171450" cy="17145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3850481" y="2080059"/>
            <a:ext cx="2228850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Sintaxe Perfeita</a:t>
            </a:r>
            <a:endParaRPr lang="en-US" sz="885" dirty="0"/>
          </a:p>
        </p:txBody>
      </p:sp>
      <p:sp>
        <p:nvSpPr>
          <p:cNvPr id="38" name="Text 33"/>
          <p:cNvSpPr/>
          <p:nvPr/>
        </p:nvSpPr>
        <p:spPr>
          <a:xfrm>
            <a:off x="3850481" y="2306873"/>
            <a:ext cx="22288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 Python executável sem erros de compilação ou indentação.</a:t>
            </a:r>
            <a:endParaRPr lang="en-US" sz="780" dirty="0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7919" y="2110420"/>
            <a:ext cx="171450" cy="17145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6486525" y="2080059"/>
            <a:ext cx="2228850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Padrão SQLAlchemy</a:t>
            </a:r>
            <a:endParaRPr lang="en-US" sz="885" dirty="0"/>
          </a:p>
        </p:txBody>
      </p:sp>
      <p:sp>
        <p:nvSpPr>
          <p:cNvPr id="41" name="Text 35"/>
          <p:cNvSpPr/>
          <p:nvPr/>
        </p:nvSpPr>
        <p:spPr>
          <a:xfrm>
            <a:off x="6486525" y="2306873"/>
            <a:ext cx="22288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Importações corretas e uso adequado do ORM para mapeamento.</a:t>
            </a:r>
            <a:endParaRPr lang="en-US" sz="780" dirty="0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1875" y="2765859"/>
            <a:ext cx="171450" cy="17145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3850481" y="2735498"/>
            <a:ext cx="2228850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Estrutura Completa</a:t>
            </a:r>
            <a:endParaRPr lang="en-US" sz="885" dirty="0"/>
          </a:p>
        </p:txBody>
      </p:sp>
      <p:sp>
        <p:nvSpPr>
          <p:cNvPr id="44" name="Text 37"/>
          <p:cNvSpPr/>
          <p:nvPr/>
        </p:nvSpPr>
        <p:spPr>
          <a:xfrm>
            <a:off x="3850481" y="2962312"/>
            <a:ext cx="22288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Definição de classes, atributos e métodos construtores (__init__).</a:t>
            </a:r>
            <a:endParaRPr lang="en-US" sz="780" dirty="0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7919" y="2765859"/>
            <a:ext cx="171450" cy="17145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6486525" y="2735498"/>
            <a:ext cx="2228850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Relacionamentos</a:t>
            </a:r>
            <a:endParaRPr lang="en-US" sz="885" dirty="0"/>
          </a:p>
        </p:txBody>
      </p:sp>
      <p:sp>
        <p:nvSpPr>
          <p:cNvPr id="47" name="Text 39"/>
          <p:cNvSpPr/>
          <p:nvPr/>
        </p:nvSpPr>
        <p:spPr>
          <a:xfrm>
            <a:off x="6486525" y="2962312"/>
            <a:ext cx="22288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Configuração correta de Chaves Estrangeiras (Foreign Keys).</a:t>
            </a:r>
            <a:endParaRPr lang="en-US" sz="780" dirty="0"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1875" y="3421298"/>
            <a:ext cx="171450" cy="171450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3850481" y="3390937"/>
            <a:ext cx="2228850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Documentação</a:t>
            </a:r>
            <a:endParaRPr lang="en-US" sz="885" dirty="0"/>
          </a:p>
        </p:txBody>
      </p:sp>
      <p:sp>
        <p:nvSpPr>
          <p:cNvPr id="50" name="Text 41"/>
          <p:cNvSpPr/>
          <p:nvPr/>
        </p:nvSpPr>
        <p:spPr>
          <a:xfrm>
            <a:off x="3850481" y="3617751"/>
            <a:ext cx="22288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Inclusão de docstrings e comentários explicativos inline.</a:t>
            </a:r>
            <a:endParaRPr lang="en-US" sz="780" dirty="0"/>
          </a:p>
        </p:txBody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7919" y="3421298"/>
            <a:ext cx="171450" cy="171450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6486525" y="3390937"/>
            <a:ext cx="2228850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Pronto para Uso</a:t>
            </a:r>
            <a:endParaRPr lang="en-US" sz="885" dirty="0"/>
          </a:p>
        </p:txBody>
      </p:sp>
      <p:sp>
        <p:nvSpPr>
          <p:cNvPr id="53" name="Text 43"/>
          <p:cNvSpPr/>
          <p:nvPr/>
        </p:nvSpPr>
        <p:spPr>
          <a:xfrm>
            <a:off x="6486525" y="3617751"/>
            <a:ext cx="22288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Integração imediata ao projeto com ajustes mínimos.</a:t>
            </a:r>
            <a:endParaRPr lang="en-US" sz="780" dirty="0"/>
          </a:p>
        </p:txBody>
      </p:sp>
      <p:sp>
        <p:nvSpPr>
          <p:cNvPr id="54" name="Shape 44"/>
          <p:cNvSpPr/>
          <p:nvPr/>
        </p:nvSpPr>
        <p:spPr>
          <a:xfrm>
            <a:off x="428625" y="4361259"/>
            <a:ext cx="8286750" cy="439341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Shape 45"/>
          <p:cNvSpPr/>
          <p:nvPr/>
        </p:nvSpPr>
        <p:spPr>
          <a:xfrm>
            <a:off x="428625" y="4361259"/>
            <a:ext cx="35719" cy="439341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Text 46"/>
          <p:cNvSpPr/>
          <p:nvPr/>
        </p:nvSpPr>
        <p:spPr>
          <a:xfrm>
            <a:off x="600075" y="4475559"/>
            <a:ext cx="1621631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IMPACTO NA PRODUTIVIDADE</a:t>
            </a:r>
            <a:endParaRPr lang="en-US" sz="1050" dirty="0"/>
          </a:p>
        </p:txBody>
      </p:sp>
      <p:sp>
        <p:nvSpPr>
          <p:cNvPr id="57" name="Text 47"/>
          <p:cNvSpPr/>
          <p:nvPr/>
        </p:nvSpPr>
        <p:spPr>
          <a:xfrm>
            <a:off x="5250656" y="4503241"/>
            <a:ext cx="32932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 de Geração: </a:t>
            </a:r>
            <a:r>
              <a:rPr lang="en-US" sz="885" b="1" dirty="0">
                <a:solidFill>
                  <a:srgbClr val="009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Segundos (IA)</a:t>
            </a:r>
            <a:r>
              <a:rPr lang="en-US" sz="942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vs. </a:t>
            </a:r>
            <a:r>
              <a:rPr lang="en-US" sz="942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Horas (Manual)</a:t>
            </a:r>
            <a:endParaRPr lang="en-US" sz="94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411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71438" cy="411463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7786688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FASE 3: ARQUITETURA E ORGANIZAÇÃO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200262"/>
            <a:ext cx="28003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os modelos criados, surgiu a necessidade de organizar o projeto. A pergunta à IA foi intencionalmente simples: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71500" y="2271824"/>
            <a:ext cx="2800350" cy="1062633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571500" y="2271824"/>
            <a:ext cx="35719" cy="1062633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785813" y="2486137"/>
            <a:ext cx="2371725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PROMPT DO USUÁRIO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785813" y="2705807"/>
            <a:ext cx="237172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i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"Como fica a pasta dos arquivos .py?"</a:t>
            </a:r>
            <a:endParaRPr lang="en-US" sz="1193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780941"/>
            <a:ext cx="85725" cy="1143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8663" y="3770226"/>
            <a:ext cx="226278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resposta foi uma estrutura completa de</a:t>
            </a:r>
            <a:endParaRPr lang="en-US" sz="834" dirty="0"/>
          </a:p>
        </p:txBody>
      </p:sp>
      <p:sp>
        <p:nvSpPr>
          <p:cNvPr id="13" name="Text 9"/>
          <p:cNvSpPr/>
          <p:nvPr/>
        </p:nvSpPr>
        <p:spPr>
          <a:xfrm>
            <a:off x="571500" y="3907743"/>
            <a:ext cx="275213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projeto FastAPI, demonstrando que a IA pode atuar</a:t>
            </a:r>
            <a:endParaRPr lang="en-US" sz="834" dirty="0"/>
          </a:p>
        </p:txBody>
      </p:sp>
      <p:sp>
        <p:nvSpPr>
          <p:cNvPr id="14" name="Text 10"/>
          <p:cNvSpPr/>
          <p:nvPr/>
        </p:nvSpPr>
        <p:spPr>
          <a:xfrm>
            <a:off x="571500" y="4045260"/>
            <a:ext cx="154126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Arquiteto de Software.</a:t>
            </a:r>
            <a:endParaRPr lang="en-US" sz="834" dirty="0"/>
          </a:p>
        </p:txBody>
      </p:sp>
      <p:sp>
        <p:nvSpPr>
          <p:cNvPr id="15" name="Shape 11"/>
          <p:cNvSpPr/>
          <p:nvPr/>
        </p:nvSpPr>
        <p:spPr>
          <a:xfrm>
            <a:off x="3800475" y="1125838"/>
            <a:ext cx="4772025" cy="3131362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2"/>
          <p:cNvSpPr/>
          <p:nvPr/>
        </p:nvSpPr>
        <p:spPr>
          <a:xfrm>
            <a:off x="4086225" y="1411588"/>
            <a:ext cx="4200525" cy="33397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SUGESTÃO ESTRUTURAL DA IA</a:t>
            </a:r>
            <a:endParaRPr lang="en-US" sz="1269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6225" y="1939863"/>
            <a:ext cx="142875" cy="1285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00538" y="1888434"/>
            <a:ext cx="921544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42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brasileirao/</a:t>
            </a:r>
            <a:endParaRPr lang="en-US" sz="942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9100" y="2171309"/>
            <a:ext cx="142875" cy="1285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443413" y="2119880"/>
            <a:ext cx="307181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42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app/</a:t>
            </a:r>
            <a:endParaRPr lang="en-US" sz="942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1975" y="2402756"/>
            <a:ext cx="142875" cy="1285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586288" y="2351326"/>
            <a:ext cx="537567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009C3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models/</a:t>
            </a:r>
            <a:endParaRPr lang="en-US" sz="885" dirty="0"/>
          </a:p>
        </p:txBody>
      </p:sp>
      <p:sp>
        <p:nvSpPr>
          <p:cNvPr id="23" name="Text 16"/>
          <p:cNvSpPr/>
          <p:nvPr/>
        </p:nvSpPr>
        <p:spPr>
          <a:xfrm>
            <a:off x="5266730" y="2364191"/>
            <a:ext cx="2375297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34" i="1" dirty="0">
                <a:solidFill>
                  <a:srgbClr val="6A99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 Onde salvamos os arquivos gerados</a:t>
            </a:r>
            <a:endParaRPr lang="en-US" sz="834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1975" y="2634202"/>
            <a:ext cx="142875" cy="12858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586288" y="2582773"/>
            <a:ext cx="614363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42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routers/</a:t>
            </a:r>
            <a:endParaRPr lang="en-US" sz="942" dirty="0"/>
          </a:p>
        </p:txBody>
      </p:sp>
      <p:sp>
        <p:nvSpPr>
          <p:cNvPr id="26" name="Text 18"/>
          <p:cNvSpPr/>
          <p:nvPr/>
        </p:nvSpPr>
        <p:spPr>
          <a:xfrm>
            <a:off x="5343525" y="2595637"/>
            <a:ext cx="122158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34" i="1" dirty="0">
                <a:solidFill>
                  <a:srgbClr val="6A99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 Endpoints da API</a:t>
            </a:r>
            <a:endParaRPr lang="en-US" sz="834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71975" y="2865648"/>
            <a:ext cx="142875" cy="12858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586288" y="2814219"/>
            <a:ext cx="691158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42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services/</a:t>
            </a:r>
            <a:endParaRPr lang="en-US" sz="942" dirty="0"/>
          </a:p>
        </p:txBody>
      </p:sp>
      <p:sp>
        <p:nvSpPr>
          <p:cNvPr id="29" name="Text 20"/>
          <p:cNvSpPr/>
          <p:nvPr/>
        </p:nvSpPr>
        <p:spPr>
          <a:xfrm>
            <a:off x="5420320" y="2827083"/>
            <a:ext cx="1289447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34" i="1" dirty="0">
                <a:solidFill>
                  <a:srgbClr val="6A99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 Regras de negócio</a:t>
            </a:r>
            <a:endParaRPr lang="en-US" sz="834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1975" y="3097095"/>
            <a:ext cx="142875" cy="12858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4586288" y="3045665"/>
            <a:ext cx="614363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42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schemas/</a:t>
            </a:r>
            <a:endParaRPr lang="en-US" sz="942" dirty="0"/>
          </a:p>
        </p:txBody>
      </p:sp>
      <p:sp>
        <p:nvSpPr>
          <p:cNvPr id="32" name="Text 22"/>
          <p:cNvSpPr/>
          <p:nvPr/>
        </p:nvSpPr>
        <p:spPr>
          <a:xfrm>
            <a:off x="5343525" y="3058530"/>
            <a:ext cx="135731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34" i="1" dirty="0">
                <a:solidFill>
                  <a:srgbClr val="6A99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 Validação Pydantic</a:t>
            </a:r>
            <a:endParaRPr lang="en-US" sz="834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71975" y="3328541"/>
            <a:ext cx="142875" cy="128588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586288" y="3277112"/>
            <a:ext cx="537567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42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main.py</a:t>
            </a:r>
            <a:endParaRPr lang="en-US" sz="942" dirty="0"/>
          </a:p>
        </p:txBody>
      </p:sp>
      <p:sp>
        <p:nvSpPr>
          <p:cNvPr id="35" name="Text 24"/>
          <p:cNvSpPr/>
          <p:nvPr/>
        </p:nvSpPr>
        <p:spPr>
          <a:xfrm>
            <a:off x="5266730" y="3289976"/>
            <a:ext cx="122158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34" i="1" dirty="0">
                <a:solidFill>
                  <a:srgbClr val="6A99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 Ponto de entrada</a:t>
            </a:r>
            <a:endParaRPr lang="en-US" sz="834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29100" y="3559987"/>
            <a:ext cx="142875" cy="128588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4443413" y="3508558"/>
            <a:ext cx="844748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42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database.py</a:t>
            </a:r>
            <a:endParaRPr lang="en-US" sz="942" dirty="0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29100" y="3791434"/>
            <a:ext cx="142875" cy="128588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4443413" y="3740004"/>
            <a:ext cx="1228725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42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requirements.txt</a:t>
            </a:r>
            <a:endParaRPr lang="en-US" sz="94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411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71438" cy="411463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7786688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FASE 4: GERAÇÃO EM ESCALA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197276"/>
            <a:ext cx="2971800" cy="341114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009C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PARÂMETROS DO PROMPT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571500" y="1716984"/>
            <a:ext cx="2971800" cy="519708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571500" y="1716984"/>
            <a:ext cx="28575" cy="51970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678656" y="1833962"/>
            <a:ext cx="285750" cy="285750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238" y="1912544"/>
            <a:ext cx="128588" cy="1285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07281" y="1824140"/>
            <a:ext cx="100191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Nome da Tabela</a:t>
            </a:r>
            <a:endParaRPr lang="en-US" sz="885" dirty="0"/>
          </a:p>
        </p:txBody>
      </p:sp>
      <p:sp>
        <p:nvSpPr>
          <p:cNvPr id="12" name="Text 8"/>
          <p:cNvSpPr/>
          <p:nvPr/>
        </p:nvSpPr>
        <p:spPr>
          <a:xfrm>
            <a:off x="1107281" y="2008091"/>
            <a:ext cx="100191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Ex: Tabela 'rodada'</a:t>
            </a:r>
            <a:endParaRPr lang="en-US" sz="727" dirty="0"/>
          </a:p>
        </p:txBody>
      </p:sp>
      <p:sp>
        <p:nvSpPr>
          <p:cNvPr id="13" name="Shape 9"/>
          <p:cNvSpPr/>
          <p:nvPr/>
        </p:nvSpPr>
        <p:spPr>
          <a:xfrm>
            <a:off x="571500" y="2415285"/>
            <a:ext cx="2971800" cy="519708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571500" y="2415285"/>
            <a:ext cx="28575" cy="51970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678656" y="2532264"/>
            <a:ext cx="285750" cy="285750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238" y="2610845"/>
            <a:ext cx="128588" cy="1285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07281" y="2522441"/>
            <a:ext cx="10715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Atributos &amp; Tipos</a:t>
            </a:r>
            <a:endParaRPr lang="en-US" sz="885" dirty="0"/>
          </a:p>
        </p:txBody>
      </p:sp>
      <p:sp>
        <p:nvSpPr>
          <p:cNvPr id="18" name="Text 13"/>
          <p:cNvSpPr/>
          <p:nvPr/>
        </p:nvSpPr>
        <p:spPr>
          <a:xfrm>
            <a:off x="1107281" y="2706393"/>
            <a:ext cx="125194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INT, VARCHAR, DATETIME</a:t>
            </a:r>
            <a:endParaRPr lang="en-US" sz="727" dirty="0"/>
          </a:p>
        </p:txBody>
      </p:sp>
      <p:sp>
        <p:nvSpPr>
          <p:cNvPr id="19" name="Shape 14"/>
          <p:cNvSpPr/>
          <p:nvPr/>
        </p:nvSpPr>
        <p:spPr>
          <a:xfrm>
            <a:off x="571500" y="3113587"/>
            <a:ext cx="2971800" cy="519708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571500" y="3113587"/>
            <a:ext cx="28575" cy="51970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6"/>
          <p:cNvSpPr/>
          <p:nvPr/>
        </p:nvSpPr>
        <p:spPr>
          <a:xfrm>
            <a:off x="678656" y="3230566"/>
            <a:ext cx="285750" cy="285750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238" y="3309147"/>
            <a:ext cx="128588" cy="1285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07281" y="3220743"/>
            <a:ext cx="66258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Restrições</a:t>
            </a:r>
            <a:endParaRPr lang="en-US" sz="885" dirty="0"/>
          </a:p>
        </p:txBody>
      </p:sp>
      <p:sp>
        <p:nvSpPr>
          <p:cNvPr id="24" name="Text 18"/>
          <p:cNvSpPr/>
          <p:nvPr/>
        </p:nvSpPr>
        <p:spPr>
          <a:xfrm>
            <a:off x="1107281" y="3404695"/>
            <a:ext cx="100905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Key, Nullable</a:t>
            </a:r>
            <a:endParaRPr lang="en-US" sz="727" dirty="0"/>
          </a:p>
        </p:txBody>
      </p:sp>
      <p:sp>
        <p:nvSpPr>
          <p:cNvPr id="25" name="Shape 19"/>
          <p:cNvSpPr/>
          <p:nvPr/>
        </p:nvSpPr>
        <p:spPr>
          <a:xfrm>
            <a:off x="571500" y="3811888"/>
            <a:ext cx="2971800" cy="519708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0"/>
          <p:cNvSpPr/>
          <p:nvPr/>
        </p:nvSpPr>
        <p:spPr>
          <a:xfrm>
            <a:off x="571500" y="3811888"/>
            <a:ext cx="28575" cy="51970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1"/>
          <p:cNvSpPr/>
          <p:nvPr/>
        </p:nvSpPr>
        <p:spPr>
          <a:xfrm>
            <a:off x="678656" y="3928867"/>
            <a:ext cx="285750" cy="285750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164" y="4007448"/>
            <a:ext cx="160734" cy="12858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07281" y="3919045"/>
            <a:ext cx="10697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Relacionamentos</a:t>
            </a:r>
            <a:endParaRPr lang="en-US" sz="885" dirty="0"/>
          </a:p>
        </p:txBody>
      </p:sp>
      <p:sp>
        <p:nvSpPr>
          <p:cNvPr id="30" name="Text 23"/>
          <p:cNvSpPr/>
          <p:nvPr/>
        </p:nvSpPr>
        <p:spPr>
          <a:xfrm>
            <a:off x="1107281" y="4102996"/>
            <a:ext cx="168413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Foreign Keys (Chaves Estrangeiras)</a:t>
            </a:r>
            <a:endParaRPr lang="en-US" sz="727" dirty="0"/>
          </a:p>
        </p:txBody>
      </p:sp>
      <p:sp>
        <p:nvSpPr>
          <p:cNvPr id="31" name="Text 24"/>
          <p:cNvSpPr/>
          <p:nvPr/>
        </p:nvSpPr>
        <p:spPr>
          <a:xfrm>
            <a:off x="4114800" y="1197276"/>
            <a:ext cx="4457700" cy="341114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009C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ARQUIVOS GERADOS (MODELS)</a:t>
            </a:r>
            <a:endParaRPr lang="en-US" sz="1269" dirty="0"/>
          </a:p>
        </p:txBody>
      </p:sp>
      <p:sp>
        <p:nvSpPr>
          <p:cNvPr id="32" name="Shape 25"/>
          <p:cNvSpPr/>
          <p:nvPr/>
        </p:nvSpPr>
        <p:spPr>
          <a:xfrm>
            <a:off x="4114800" y="1716984"/>
            <a:ext cx="2225278" cy="400050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1956" y="1831284"/>
            <a:ext cx="128588" cy="17145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457700" y="1851822"/>
            <a:ext cx="97155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rodada_models.py</a:t>
            </a:r>
            <a:endParaRPr lang="en-US" sz="727" dirty="0"/>
          </a:p>
        </p:txBody>
      </p:sp>
      <p:sp>
        <p:nvSpPr>
          <p:cNvPr id="35" name="Shape 27"/>
          <p:cNvSpPr/>
          <p:nvPr/>
        </p:nvSpPr>
        <p:spPr>
          <a:xfrm>
            <a:off x="6482953" y="1716984"/>
            <a:ext cx="2089547" cy="400050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90109" y="1824140"/>
            <a:ext cx="128588" cy="17145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825853" y="1844678"/>
            <a:ext cx="97155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cartao_models.py</a:t>
            </a:r>
            <a:endParaRPr lang="en-US" sz="727" dirty="0"/>
          </a:p>
        </p:txBody>
      </p:sp>
      <p:sp>
        <p:nvSpPr>
          <p:cNvPr id="38" name="Shape 29"/>
          <p:cNvSpPr/>
          <p:nvPr/>
        </p:nvSpPr>
        <p:spPr>
          <a:xfrm>
            <a:off x="4114800" y="2245621"/>
            <a:ext cx="2225278" cy="400050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1956" y="2359921"/>
            <a:ext cx="128588" cy="17145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4457700" y="2380459"/>
            <a:ext cx="91082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clube_models.py</a:t>
            </a:r>
            <a:endParaRPr lang="en-US" sz="727" dirty="0"/>
          </a:p>
        </p:txBody>
      </p:sp>
      <p:sp>
        <p:nvSpPr>
          <p:cNvPr id="41" name="Shape 31"/>
          <p:cNvSpPr/>
          <p:nvPr/>
        </p:nvSpPr>
        <p:spPr>
          <a:xfrm>
            <a:off x="6482953" y="2245621"/>
            <a:ext cx="2089547" cy="400050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90109" y="2352777"/>
            <a:ext cx="128588" cy="17145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6825853" y="2373316"/>
            <a:ext cx="103227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estadio_models.py</a:t>
            </a:r>
            <a:endParaRPr lang="en-US" sz="727" dirty="0"/>
          </a:p>
        </p:txBody>
      </p:sp>
      <p:sp>
        <p:nvSpPr>
          <p:cNvPr id="44" name="Shape 33"/>
          <p:cNvSpPr/>
          <p:nvPr/>
        </p:nvSpPr>
        <p:spPr>
          <a:xfrm>
            <a:off x="4114800" y="2774259"/>
            <a:ext cx="2225278" cy="400050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1956" y="2888559"/>
            <a:ext cx="128588" cy="171450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4457700" y="2909097"/>
            <a:ext cx="97155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cidade_models.py</a:t>
            </a:r>
            <a:endParaRPr lang="en-US" sz="727" dirty="0"/>
          </a:p>
        </p:txBody>
      </p:sp>
      <p:sp>
        <p:nvSpPr>
          <p:cNvPr id="47" name="Shape 35"/>
          <p:cNvSpPr/>
          <p:nvPr/>
        </p:nvSpPr>
        <p:spPr>
          <a:xfrm>
            <a:off x="6482953" y="2774259"/>
            <a:ext cx="2089547" cy="400050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90109" y="2881415"/>
            <a:ext cx="128588" cy="171450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6825853" y="2901953"/>
            <a:ext cx="103227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usuario_models.py</a:t>
            </a:r>
            <a:endParaRPr lang="en-US" sz="727" dirty="0"/>
          </a:p>
        </p:txBody>
      </p:sp>
      <p:sp>
        <p:nvSpPr>
          <p:cNvPr id="50" name="Shape 37"/>
          <p:cNvSpPr/>
          <p:nvPr/>
        </p:nvSpPr>
        <p:spPr>
          <a:xfrm>
            <a:off x="4114800" y="3302896"/>
            <a:ext cx="2225278" cy="400050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1956" y="3417196"/>
            <a:ext cx="128588" cy="171450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4457700" y="3437734"/>
            <a:ext cx="176093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classificacao_geral_models.py</a:t>
            </a:r>
            <a:endParaRPr lang="en-US" sz="727" dirty="0"/>
          </a:p>
        </p:txBody>
      </p:sp>
      <p:sp>
        <p:nvSpPr>
          <p:cNvPr id="53" name="Shape 39"/>
          <p:cNvSpPr/>
          <p:nvPr/>
        </p:nvSpPr>
        <p:spPr>
          <a:xfrm>
            <a:off x="6468666" y="3302896"/>
            <a:ext cx="2103834" cy="400050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5822" y="3410052"/>
            <a:ext cx="128588" cy="171450"/>
          </a:xfrm>
          <a:prstGeom prst="rect">
            <a:avLst/>
          </a:prstGeom>
        </p:spPr>
      </p:pic>
      <p:sp>
        <p:nvSpPr>
          <p:cNvPr id="55" name="Text 40"/>
          <p:cNvSpPr/>
          <p:nvPr/>
        </p:nvSpPr>
        <p:spPr>
          <a:xfrm>
            <a:off x="6811566" y="3430591"/>
            <a:ext cx="103227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amarelo_models.py</a:t>
            </a:r>
            <a:endParaRPr lang="en-US" sz="727" dirty="0"/>
          </a:p>
        </p:txBody>
      </p:sp>
      <p:sp>
        <p:nvSpPr>
          <p:cNvPr id="56" name="Shape 41"/>
          <p:cNvSpPr/>
          <p:nvPr/>
        </p:nvSpPr>
        <p:spPr>
          <a:xfrm>
            <a:off x="4114800" y="3974409"/>
            <a:ext cx="4457700" cy="567928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Shape 42"/>
          <p:cNvSpPr/>
          <p:nvPr/>
        </p:nvSpPr>
        <p:spPr>
          <a:xfrm>
            <a:off x="4114800" y="3974409"/>
            <a:ext cx="35719" cy="567928"/>
          </a:xfrm>
          <a:prstGeom prst="rect">
            <a:avLst/>
          </a:prstGeom>
          <a:solidFill>
            <a:srgbClr val="FFDF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Text 43"/>
          <p:cNvSpPr/>
          <p:nvPr/>
        </p:nvSpPr>
        <p:spPr>
          <a:xfrm>
            <a:off x="4293394" y="4153002"/>
            <a:ext cx="151090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GANHO DE PRODUTIVIDADE</a:t>
            </a:r>
            <a:endParaRPr lang="en-US" sz="1050" dirty="0"/>
          </a:p>
        </p:txBody>
      </p:sp>
      <p:sp>
        <p:nvSpPr>
          <p:cNvPr id="59" name="Text 44"/>
          <p:cNvSpPr/>
          <p:nvPr/>
        </p:nvSpPr>
        <p:spPr>
          <a:xfrm>
            <a:off x="6663333" y="4180684"/>
            <a:ext cx="107334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Dias de Trabalho</a:t>
            </a:r>
            <a:endParaRPr lang="en-US" sz="885" dirty="0"/>
          </a:p>
        </p:txBody>
      </p:sp>
      <p:pic>
        <p:nvPicPr>
          <p:cNvPr id="60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08119" y="4193186"/>
            <a:ext cx="112514" cy="128588"/>
          </a:xfrm>
          <a:prstGeom prst="rect">
            <a:avLst/>
          </a:prstGeom>
        </p:spPr>
      </p:pic>
      <p:sp>
        <p:nvSpPr>
          <p:cNvPr id="61" name="Text 45"/>
          <p:cNvSpPr/>
          <p:nvPr/>
        </p:nvSpPr>
        <p:spPr>
          <a:xfrm>
            <a:off x="7992070" y="4180684"/>
            <a:ext cx="4018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Horas</a:t>
            </a:r>
            <a:endParaRPr lang="en-US" sz="88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411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71438" cy="411463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7786688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FASE 5: ALGORITMO DE CLASSIFICAÇÃO</a:t>
            </a:r>
            <a:endParaRPr lang="en-US" sz="2436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2658173"/>
            <a:ext cx="178594" cy="28575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54" y="2658173"/>
            <a:ext cx="178594" cy="28575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78656" y="1197276"/>
            <a:ext cx="2318147" cy="32146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4"/>
          <p:cNvSpPr/>
          <p:nvPr/>
        </p:nvSpPr>
        <p:spPr>
          <a:xfrm>
            <a:off x="678656" y="1197276"/>
            <a:ext cx="2318147" cy="35719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5"/>
          <p:cNvSpPr/>
          <p:nvPr/>
        </p:nvSpPr>
        <p:spPr>
          <a:xfrm>
            <a:off x="2989659" y="1197276"/>
            <a:ext cx="7144" cy="3214688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6"/>
          <p:cNvSpPr/>
          <p:nvPr/>
        </p:nvSpPr>
        <p:spPr>
          <a:xfrm>
            <a:off x="678656" y="4404820"/>
            <a:ext cx="2318147" cy="7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7"/>
          <p:cNvSpPr/>
          <p:nvPr/>
        </p:nvSpPr>
        <p:spPr>
          <a:xfrm>
            <a:off x="678656" y="1197276"/>
            <a:ext cx="7144" cy="3214688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7765" y="1382120"/>
            <a:ext cx="171450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650653" y="1340151"/>
            <a:ext cx="607219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ENTRADA</a:t>
            </a:r>
            <a:endParaRPr lang="en-US" sz="1269" dirty="0"/>
          </a:p>
        </p:txBody>
      </p:sp>
      <p:sp>
        <p:nvSpPr>
          <p:cNvPr id="15" name="Shape 9"/>
          <p:cNvSpPr/>
          <p:nvPr/>
        </p:nvSpPr>
        <p:spPr>
          <a:xfrm>
            <a:off x="821531" y="1738415"/>
            <a:ext cx="2022574" cy="29289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0"/>
          <p:cNvSpPr/>
          <p:nvPr/>
        </p:nvSpPr>
        <p:spPr>
          <a:xfrm>
            <a:off x="821531" y="1738415"/>
            <a:ext cx="21431" cy="29289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1"/>
          <p:cNvSpPr/>
          <p:nvPr/>
        </p:nvSpPr>
        <p:spPr>
          <a:xfrm>
            <a:off x="821531" y="1738415"/>
            <a:ext cx="2022574" cy="292894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série: str</a:t>
            </a:r>
            <a:endParaRPr lang="en-US" sz="834" dirty="0"/>
          </a:p>
        </p:txBody>
      </p:sp>
      <p:sp>
        <p:nvSpPr>
          <p:cNvPr id="18" name="Shape 12"/>
          <p:cNvSpPr/>
          <p:nvPr/>
        </p:nvSpPr>
        <p:spPr>
          <a:xfrm>
            <a:off x="821531" y="2102746"/>
            <a:ext cx="2022574" cy="29289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3"/>
          <p:cNvSpPr/>
          <p:nvPr/>
        </p:nvSpPr>
        <p:spPr>
          <a:xfrm>
            <a:off x="821531" y="2102746"/>
            <a:ext cx="21431" cy="29289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4"/>
          <p:cNvSpPr/>
          <p:nvPr/>
        </p:nvSpPr>
        <p:spPr>
          <a:xfrm>
            <a:off x="821531" y="2102746"/>
            <a:ext cx="2022574" cy="292894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ano: int</a:t>
            </a:r>
            <a:endParaRPr lang="en-US" sz="834" dirty="0"/>
          </a:p>
        </p:txBody>
      </p:sp>
      <p:sp>
        <p:nvSpPr>
          <p:cNvPr id="21" name="Shape 15"/>
          <p:cNvSpPr/>
          <p:nvPr/>
        </p:nvSpPr>
        <p:spPr>
          <a:xfrm>
            <a:off x="821531" y="2467077"/>
            <a:ext cx="2022574" cy="29289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6"/>
          <p:cNvSpPr/>
          <p:nvPr/>
        </p:nvSpPr>
        <p:spPr>
          <a:xfrm>
            <a:off x="821531" y="2467077"/>
            <a:ext cx="21431" cy="29289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17"/>
          <p:cNvSpPr/>
          <p:nvPr/>
        </p:nvSpPr>
        <p:spPr>
          <a:xfrm>
            <a:off x="821531" y="2467077"/>
            <a:ext cx="2022574" cy="292894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rodada: int</a:t>
            </a:r>
            <a:endParaRPr lang="en-US" sz="834" dirty="0"/>
          </a:p>
        </p:txBody>
      </p:sp>
      <p:sp>
        <p:nvSpPr>
          <p:cNvPr id="24" name="Shape 18"/>
          <p:cNvSpPr/>
          <p:nvPr/>
        </p:nvSpPr>
        <p:spPr>
          <a:xfrm>
            <a:off x="821531" y="2831409"/>
            <a:ext cx="2022574" cy="29289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19"/>
          <p:cNvSpPr/>
          <p:nvPr/>
        </p:nvSpPr>
        <p:spPr>
          <a:xfrm>
            <a:off x="821531" y="2831409"/>
            <a:ext cx="21431" cy="29289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0"/>
          <p:cNvSpPr/>
          <p:nvPr/>
        </p:nvSpPr>
        <p:spPr>
          <a:xfrm>
            <a:off x="821531" y="2831409"/>
            <a:ext cx="2022574" cy="292894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carregar_jogos: bool</a:t>
            </a:r>
            <a:endParaRPr lang="en-US" sz="834" dirty="0"/>
          </a:p>
        </p:txBody>
      </p:sp>
      <p:sp>
        <p:nvSpPr>
          <p:cNvPr id="27" name="Text 21"/>
          <p:cNvSpPr/>
          <p:nvPr/>
        </p:nvSpPr>
        <p:spPr>
          <a:xfrm>
            <a:off x="821531" y="3338615"/>
            <a:ext cx="2022574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Filtra jogos finalizados com cálculo pendente.</a:t>
            </a:r>
            <a:endParaRPr lang="en-US" sz="727" dirty="0"/>
          </a:p>
        </p:txBody>
      </p:sp>
      <p:sp>
        <p:nvSpPr>
          <p:cNvPr id="28" name="Shape 22"/>
          <p:cNvSpPr/>
          <p:nvPr/>
        </p:nvSpPr>
        <p:spPr>
          <a:xfrm>
            <a:off x="3201293" y="1197276"/>
            <a:ext cx="2727127" cy="32146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Shape 23"/>
          <p:cNvSpPr/>
          <p:nvPr/>
        </p:nvSpPr>
        <p:spPr>
          <a:xfrm>
            <a:off x="3201293" y="1197276"/>
            <a:ext cx="2727127" cy="35719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4"/>
          <p:cNvSpPr/>
          <p:nvPr/>
        </p:nvSpPr>
        <p:spPr>
          <a:xfrm>
            <a:off x="5921276" y="1197276"/>
            <a:ext cx="7144" cy="3214688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5"/>
          <p:cNvSpPr/>
          <p:nvPr/>
        </p:nvSpPr>
        <p:spPr>
          <a:xfrm>
            <a:off x="3201293" y="4404820"/>
            <a:ext cx="2727127" cy="7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26"/>
          <p:cNvSpPr/>
          <p:nvPr/>
        </p:nvSpPr>
        <p:spPr>
          <a:xfrm>
            <a:off x="3201293" y="1197276"/>
            <a:ext cx="7144" cy="3214688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5123" y="1382120"/>
            <a:ext cx="214313" cy="17145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130873" y="1340151"/>
            <a:ext cx="1153716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PROCESSAMENTO</a:t>
            </a:r>
            <a:endParaRPr lang="en-US" sz="1269" dirty="0"/>
          </a:p>
        </p:txBody>
      </p:sp>
      <p:sp>
        <p:nvSpPr>
          <p:cNvPr id="35" name="Shape 28"/>
          <p:cNvSpPr/>
          <p:nvPr/>
        </p:nvSpPr>
        <p:spPr>
          <a:xfrm>
            <a:off x="3348633" y="1801816"/>
            <a:ext cx="285527" cy="285750"/>
          </a:xfrm>
          <a:prstGeom prst="ellipse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9066" y="1880397"/>
            <a:ext cx="144661" cy="12858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3741316" y="1738415"/>
            <a:ext cx="2039764" cy="412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Pontos</a:t>
            </a:r>
            <a:r>
              <a:rPr lang="en-US" sz="834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 Vitória (+3), Empate (+1), Derrota (+0)</a:t>
            </a:r>
            <a:endParaRPr lang="en-US" sz="834" dirty="0"/>
          </a:p>
        </p:txBody>
      </p:sp>
      <p:sp>
        <p:nvSpPr>
          <p:cNvPr id="38" name="Shape 30"/>
          <p:cNvSpPr/>
          <p:nvPr/>
        </p:nvSpPr>
        <p:spPr>
          <a:xfrm>
            <a:off x="3348633" y="2258123"/>
            <a:ext cx="285750" cy="285750"/>
          </a:xfrm>
          <a:prstGeom prst="ellipse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1141" y="2336704"/>
            <a:ext cx="160734" cy="128588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3741539" y="2263480"/>
            <a:ext cx="1212652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Saldo de Gols</a:t>
            </a:r>
            <a:r>
              <a:rPr lang="en-US" sz="834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 Gols Pró - Gols Contra</a:t>
            </a:r>
            <a:endParaRPr lang="en-US" sz="834" dirty="0"/>
          </a:p>
        </p:txBody>
      </p:sp>
      <p:sp>
        <p:nvSpPr>
          <p:cNvPr id="41" name="Shape 32"/>
          <p:cNvSpPr/>
          <p:nvPr/>
        </p:nvSpPr>
        <p:spPr>
          <a:xfrm>
            <a:off x="3348633" y="2651029"/>
            <a:ext cx="285750" cy="285750"/>
          </a:xfrm>
          <a:prstGeom prst="ellipse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7214" y="2729610"/>
            <a:ext cx="128588" cy="12858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3741539" y="2656387"/>
            <a:ext cx="1468041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Estatísticas</a:t>
            </a:r>
            <a:r>
              <a:rPr lang="en-US" sz="834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 Vitórias, Empates, Derrotas</a:t>
            </a:r>
            <a:endParaRPr lang="en-US" sz="834" dirty="0"/>
          </a:p>
        </p:txBody>
      </p:sp>
      <p:sp>
        <p:nvSpPr>
          <p:cNvPr id="44" name="Shape 34"/>
          <p:cNvSpPr/>
          <p:nvPr/>
        </p:nvSpPr>
        <p:spPr>
          <a:xfrm>
            <a:off x="3348633" y="3107336"/>
            <a:ext cx="270179" cy="285750"/>
          </a:xfrm>
          <a:prstGeom prst="ellipse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19428" y="3185917"/>
            <a:ext cx="128588" cy="128588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3725968" y="3043935"/>
            <a:ext cx="2055112" cy="412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Disciplina</a:t>
            </a:r>
            <a:r>
              <a:rPr lang="en-US" sz="834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 Soma de Cartões Amarelos e Vermelhos</a:t>
            </a:r>
            <a:endParaRPr lang="en-US" sz="834" dirty="0"/>
          </a:p>
        </p:txBody>
      </p:sp>
      <p:sp>
        <p:nvSpPr>
          <p:cNvPr id="47" name="Shape 36"/>
          <p:cNvSpPr/>
          <p:nvPr/>
        </p:nvSpPr>
        <p:spPr>
          <a:xfrm>
            <a:off x="6138267" y="1197276"/>
            <a:ext cx="2327077" cy="32146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Shape 37"/>
          <p:cNvSpPr/>
          <p:nvPr/>
        </p:nvSpPr>
        <p:spPr>
          <a:xfrm>
            <a:off x="6138267" y="1197276"/>
            <a:ext cx="2327077" cy="35719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Shape 38"/>
          <p:cNvSpPr/>
          <p:nvPr/>
        </p:nvSpPr>
        <p:spPr>
          <a:xfrm>
            <a:off x="8458200" y="1197276"/>
            <a:ext cx="7144" cy="3214688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Shape 39"/>
          <p:cNvSpPr/>
          <p:nvPr/>
        </p:nvSpPr>
        <p:spPr>
          <a:xfrm>
            <a:off x="6138267" y="4404820"/>
            <a:ext cx="2327077" cy="7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Shape 40"/>
          <p:cNvSpPr/>
          <p:nvPr/>
        </p:nvSpPr>
        <p:spPr>
          <a:xfrm>
            <a:off x="6138267" y="1197276"/>
            <a:ext cx="7144" cy="3214688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85248" y="1382120"/>
            <a:ext cx="171450" cy="171450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7228136" y="1340151"/>
            <a:ext cx="400050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SAÍDA</a:t>
            </a:r>
            <a:endParaRPr lang="en-US" sz="1269" dirty="0"/>
          </a:p>
        </p:txBody>
      </p:sp>
      <p:pic>
        <p:nvPicPr>
          <p:cNvPr id="54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56686" y="2150966"/>
            <a:ext cx="500063" cy="571500"/>
          </a:xfrm>
          <a:prstGeom prst="rect">
            <a:avLst/>
          </a:prstGeom>
        </p:spPr>
      </p:pic>
      <p:sp>
        <p:nvSpPr>
          <p:cNvPr id="55" name="Text 42"/>
          <p:cNvSpPr/>
          <p:nvPr/>
        </p:nvSpPr>
        <p:spPr>
          <a:xfrm>
            <a:off x="6290965" y="2931421"/>
            <a:ext cx="203150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9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INSERT / UPDATE</a:t>
            </a:r>
            <a:endParaRPr lang="en-US" sz="885" dirty="0"/>
          </a:p>
        </p:txBody>
      </p:sp>
      <p:sp>
        <p:nvSpPr>
          <p:cNvPr id="56" name="Text 43"/>
          <p:cNvSpPr/>
          <p:nvPr/>
        </p:nvSpPr>
        <p:spPr>
          <a:xfrm>
            <a:off x="6290965" y="3158235"/>
            <a:ext cx="203150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classificacao_geral</a:t>
            </a:r>
            <a:endParaRPr lang="en-US" sz="834" dirty="0"/>
          </a:p>
        </p:txBody>
      </p:sp>
      <p:sp>
        <p:nvSpPr>
          <p:cNvPr id="57" name="Text 44"/>
          <p:cNvSpPr/>
          <p:nvPr/>
        </p:nvSpPr>
        <p:spPr>
          <a:xfrm>
            <a:off x="6290965" y="4026201"/>
            <a:ext cx="2031504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Atualiza mandante e visitante simultaneamente.</a:t>
            </a:r>
            <a:endParaRPr lang="en-US" sz="727" dirty="0"/>
          </a:p>
        </p:txBody>
      </p:sp>
      <p:sp>
        <p:nvSpPr>
          <p:cNvPr id="58" name="Shape 45"/>
          <p:cNvSpPr/>
          <p:nvPr/>
        </p:nvSpPr>
        <p:spPr>
          <a:xfrm>
            <a:off x="6532959" y="4713089"/>
            <a:ext cx="2039541" cy="216098"/>
          </a:xfrm>
          <a:prstGeom prst="rect">
            <a:avLst/>
          </a:prstGeom>
          <a:solidFill>
            <a:srgbClr val="F9F9F9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Text 46"/>
          <p:cNvSpPr/>
          <p:nvPr/>
        </p:nvSpPr>
        <p:spPr>
          <a:xfrm>
            <a:off x="6532959" y="4713089"/>
            <a:ext cx="2039541" cy="216098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def calcular_classificacao(...)</a:t>
            </a:r>
            <a:endParaRPr lang="en-US" sz="727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82292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71438" cy="822927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7786688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LIÇÕES APRENDIDAS: COMO ESTRUTURAR PROMPTS EFICAZES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465864"/>
            <a:ext cx="32146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9C3B">
                    <a:alpha val="80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2436" dirty="0"/>
          </a:p>
        </p:txBody>
      </p:sp>
      <p:sp>
        <p:nvSpPr>
          <p:cNvPr id="7" name="Text 4"/>
          <p:cNvSpPr/>
          <p:nvPr/>
        </p:nvSpPr>
        <p:spPr>
          <a:xfrm>
            <a:off x="1035844" y="1465864"/>
            <a:ext cx="1657350" cy="305395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DEFINIÇÃO DO CONTEXTO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1035844" y="1842697"/>
            <a:ext cx="3321844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Descreva claramente o cenário, framework e bibliotecas. Ex: "Projeto backend em Python com FastAPI e SQLAlchemy".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4786313" y="1465864"/>
            <a:ext cx="36611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9C3B">
                    <a:alpha val="80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2436" dirty="0"/>
          </a:p>
        </p:txBody>
      </p:sp>
      <p:sp>
        <p:nvSpPr>
          <p:cNvPr id="10" name="Text 7"/>
          <p:cNvSpPr/>
          <p:nvPr/>
        </p:nvSpPr>
        <p:spPr>
          <a:xfrm>
            <a:off x="5295305" y="1465864"/>
            <a:ext cx="1109067" cy="305395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CLARO</a:t>
            </a:r>
            <a:endParaRPr lang="en-US" sz="1269" dirty="0"/>
          </a:p>
        </p:txBody>
      </p:sp>
      <p:sp>
        <p:nvSpPr>
          <p:cNvPr id="11" name="Text 8"/>
          <p:cNvSpPr/>
          <p:nvPr/>
        </p:nvSpPr>
        <p:spPr>
          <a:xfrm>
            <a:off x="5295305" y="1842697"/>
            <a:ext cx="327719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Declare a tarefa de forma sucinta e direta, sem deixar espaço para ambiguidades sobre o resultado esperado.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571500" y="2677455"/>
            <a:ext cx="36611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9C3B">
                    <a:alpha val="80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2436" dirty="0"/>
          </a:p>
        </p:txBody>
      </p:sp>
      <p:sp>
        <p:nvSpPr>
          <p:cNvPr id="13" name="Text 10"/>
          <p:cNvSpPr/>
          <p:nvPr/>
        </p:nvSpPr>
        <p:spPr>
          <a:xfrm>
            <a:off x="1080492" y="2677455"/>
            <a:ext cx="1344811" cy="305395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DETALHES TÉCNICOS</a:t>
            </a:r>
            <a:endParaRPr lang="en-US" sz="1269" dirty="0"/>
          </a:p>
        </p:txBody>
      </p:sp>
      <p:sp>
        <p:nvSpPr>
          <p:cNvPr id="14" name="Text 11"/>
          <p:cNvSpPr/>
          <p:nvPr/>
        </p:nvSpPr>
        <p:spPr>
          <a:xfrm>
            <a:off x="1080492" y="3054288"/>
            <a:ext cx="327719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 especificações técnicas, tipos de dados, restrições de banco e padrões de nomenclatura obrigatórios.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4786313" y="2677455"/>
            <a:ext cx="36968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9C3B">
                    <a:alpha val="80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04</a:t>
            </a:r>
            <a:endParaRPr lang="en-US" sz="2436" dirty="0"/>
          </a:p>
        </p:txBody>
      </p:sp>
      <p:sp>
        <p:nvSpPr>
          <p:cNvPr id="16" name="Text 13"/>
          <p:cNvSpPr/>
          <p:nvPr/>
        </p:nvSpPr>
        <p:spPr>
          <a:xfrm>
            <a:off x="5298877" y="2677455"/>
            <a:ext cx="1464469" cy="305395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EXEMPLOS DE CÓDIGO</a:t>
            </a:r>
            <a:endParaRPr lang="en-US" sz="1269" dirty="0"/>
          </a:p>
        </p:txBody>
      </p:sp>
      <p:sp>
        <p:nvSpPr>
          <p:cNvPr id="17" name="Text 14"/>
          <p:cNvSpPr/>
          <p:nvPr/>
        </p:nvSpPr>
        <p:spPr>
          <a:xfrm>
            <a:off x="5298877" y="3054288"/>
            <a:ext cx="327362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Forneça trechos de código ("one-shot learning") para guiar a IA no estilo e padrão de indentação desejado.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571500" y="3889046"/>
            <a:ext cx="36433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9C3B">
                    <a:alpha val="80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05</a:t>
            </a:r>
            <a:endParaRPr lang="en-US" sz="2436" dirty="0"/>
          </a:p>
        </p:txBody>
      </p:sp>
      <p:sp>
        <p:nvSpPr>
          <p:cNvPr id="19" name="Text 16"/>
          <p:cNvSpPr/>
          <p:nvPr/>
        </p:nvSpPr>
        <p:spPr>
          <a:xfrm>
            <a:off x="1078706" y="3889046"/>
            <a:ext cx="1282303" cy="305395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FORMATO DE SAÍDA</a:t>
            </a:r>
            <a:endParaRPr lang="en-US" sz="1269" dirty="0"/>
          </a:p>
        </p:txBody>
      </p:sp>
      <p:sp>
        <p:nvSpPr>
          <p:cNvPr id="20" name="Text 17"/>
          <p:cNvSpPr/>
          <p:nvPr/>
        </p:nvSpPr>
        <p:spPr>
          <a:xfrm>
            <a:off x="1078706" y="4265879"/>
            <a:ext cx="327898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Detalhe exatamente como a resposta deve ser entregue (nome do arquivo, estrutura de classes, comentários).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4786313" y="3889046"/>
            <a:ext cx="37326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9C3B">
                    <a:alpha val="80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06</a:t>
            </a:r>
            <a:endParaRPr lang="en-US" sz="2436" dirty="0"/>
          </a:p>
        </p:txBody>
      </p:sp>
      <p:sp>
        <p:nvSpPr>
          <p:cNvPr id="22" name="Text 19"/>
          <p:cNvSpPr/>
          <p:nvPr/>
        </p:nvSpPr>
        <p:spPr>
          <a:xfrm>
            <a:off x="5302448" y="3889046"/>
            <a:ext cx="1755577" cy="305395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RESTRIÇÕES E LIMITAÇÕES</a:t>
            </a:r>
            <a:endParaRPr lang="en-US" sz="1269" dirty="0"/>
          </a:p>
        </p:txBody>
      </p:sp>
      <p:sp>
        <p:nvSpPr>
          <p:cNvPr id="23" name="Text 20"/>
          <p:cNvSpPr/>
          <p:nvPr/>
        </p:nvSpPr>
        <p:spPr>
          <a:xfrm>
            <a:off x="5302448" y="4265879"/>
            <a:ext cx="3270052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Indique explicitamente o que NÃO fazer. Ex: "Não abrevie variáveis", "Não use bibliotecas depreciadas".</a:t>
            </a:r>
            <a:endParaRPr lang="en-US" sz="94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240153"/>
            <a:ext cx="9144000" cy="562383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857250" y="188472"/>
            <a:ext cx="771525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FASE 6 - GARANTIA DE QUALIDADE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571500" y="742810"/>
            <a:ext cx="64293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código gerado por IA pode parecer perfeito sintaticamente, mas conter erros lógicos sutis. A validação rigorosa é a etapa que transforma "código sugerido" em "software confiável".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71500" y="1385748"/>
            <a:ext cx="3821906" cy="2815642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571500" y="1385748"/>
            <a:ext cx="3821906" cy="35719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562556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0131" y="1528623"/>
            <a:ext cx="1500188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TESTES UNITÁRIOS</a:t>
            </a:r>
            <a:endParaRPr lang="en-US" sz="1397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089407"/>
            <a:ext cx="128588" cy="128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50119" y="2060832"/>
            <a:ext cx="330041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Cobertura Lógica</a:t>
            </a:r>
            <a:endParaRPr lang="en-US" sz="885" dirty="0"/>
          </a:p>
        </p:txBody>
      </p:sp>
      <p:sp>
        <p:nvSpPr>
          <p:cNvPr id="12" name="Text 7"/>
          <p:cNvSpPr/>
          <p:nvPr/>
        </p:nvSpPr>
        <p:spPr>
          <a:xfrm>
            <a:off x="950119" y="2280503"/>
            <a:ext cx="330041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Validação de todas as condições (if/else), loops e tratamento de exceções.</a:t>
            </a:r>
            <a:endParaRPr lang="en-US" sz="834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2743395"/>
            <a:ext cx="128588" cy="1285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50119" y="2714820"/>
            <a:ext cx="330041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Integridade do Banco</a:t>
            </a:r>
            <a:endParaRPr lang="en-US" sz="885" dirty="0"/>
          </a:p>
        </p:txBody>
      </p:sp>
      <p:sp>
        <p:nvSpPr>
          <p:cNvPr id="15" name="Text 9"/>
          <p:cNvSpPr/>
          <p:nvPr/>
        </p:nvSpPr>
        <p:spPr>
          <a:xfrm>
            <a:off x="950119" y="2934491"/>
            <a:ext cx="330041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Verificação de operações CRUD (Create, Read, Update, Delete) e chaves estrangeiras.</a:t>
            </a:r>
            <a:endParaRPr lang="en-US" sz="834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3397383"/>
            <a:ext cx="128588" cy="1285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50119" y="3368808"/>
            <a:ext cx="3173611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Clareza de Saída</a:t>
            </a:r>
            <a:endParaRPr lang="en-US" sz="885" dirty="0"/>
          </a:p>
        </p:txBody>
      </p:sp>
      <p:sp>
        <p:nvSpPr>
          <p:cNvPr id="18" name="Text 11"/>
          <p:cNvSpPr/>
          <p:nvPr/>
        </p:nvSpPr>
        <p:spPr>
          <a:xfrm>
            <a:off x="950119" y="3588479"/>
            <a:ext cx="317361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Revisão das mensagens de erro e feedback em português.</a:t>
            </a:r>
            <a:endParaRPr lang="en-US" sz="834" dirty="0"/>
          </a:p>
        </p:txBody>
      </p:sp>
      <p:sp>
        <p:nvSpPr>
          <p:cNvPr id="19" name="Shape 12"/>
          <p:cNvSpPr/>
          <p:nvPr/>
        </p:nvSpPr>
        <p:spPr>
          <a:xfrm>
            <a:off x="4750594" y="1385748"/>
            <a:ext cx="3821906" cy="2815642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3"/>
          <p:cNvSpPr/>
          <p:nvPr/>
        </p:nvSpPr>
        <p:spPr>
          <a:xfrm>
            <a:off x="4750594" y="1385748"/>
            <a:ext cx="3821906" cy="35719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3469" y="1580415"/>
            <a:ext cx="171450" cy="2286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172075" y="1546482"/>
            <a:ext cx="1612702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TESTES FUNCIONAIS</a:t>
            </a:r>
            <a:endParaRPr lang="en-US" sz="1397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2107267"/>
            <a:ext cx="128588" cy="12858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129213" y="2078692"/>
            <a:ext cx="330041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Regras de Negócio</a:t>
            </a:r>
            <a:endParaRPr lang="en-US" sz="885" dirty="0"/>
          </a:p>
        </p:txBody>
      </p:sp>
      <p:sp>
        <p:nvSpPr>
          <p:cNvPr id="25" name="Text 16"/>
          <p:cNvSpPr/>
          <p:nvPr/>
        </p:nvSpPr>
        <p:spPr>
          <a:xfrm>
            <a:off x="5129213" y="2298362"/>
            <a:ext cx="330041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sistema calcula corretamente 3 pontos por vitória e saldo de gols?</a:t>
            </a:r>
            <a:endParaRPr lang="en-US" sz="834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3469" y="2761255"/>
            <a:ext cx="128588" cy="12858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129213" y="2732680"/>
            <a:ext cx="330041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Comparação Oficial</a:t>
            </a:r>
            <a:endParaRPr lang="en-US" sz="885" dirty="0"/>
          </a:p>
        </p:txBody>
      </p:sp>
      <p:sp>
        <p:nvSpPr>
          <p:cNvPr id="28" name="Text 18"/>
          <p:cNvSpPr/>
          <p:nvPr/>
        </p:nvSpPr>
        <p:spPr>
          <a:xfrm>
            <a:off x="5129213" y="2952350"/>
            <a:ext cx="330041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Validação cruzada dos resultados gerados com as tabelas do Globo Esporte e CBF.</a:t>
            </a:r>
            <a:endParaRPr lang="en-US" sz="834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3469" y="3415243"/>
            <a:ext cx="128588" cy="12858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5129213" y="3386668"/>
            <a:ext cx="330041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Fluxo Completo</a:t>
            </a:r>
            <a:endParaRPr lang="en-US" sz="885" dirty="0"/>
          </a:p>
        </p:txBody>
      </p:sp>
      <p:sp>
        <p:nvSpPr>
          <p:cNvPr id="31" name="Text 20"/>
          <p:cNvSpPr/>
          <p:nvPr/>
        </p:nvSpPr>
        <p:spPr>
          <a:xfrm>
            <a:off x="5129213" y="3606338"/>
            <a:ext cx="330041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 de ponta a ponta: do input do jogo à atualização da tabela.</a:t>
            </a:r>
            <a:endParaRPr lang="en-US" sz="834" dirty="0"/>
          </a:p>
        </p:txBody>
      </p:sp>
      <p:sp>
        <p:nvSpPr>
          <p:cNvPr id="32" name="Shape 21"/>
          <p:cNvSpPr/>
          <p:nvPr/>
        </p:nvSpPr>
        <p:spPr>
          <a:xfrm>
            <a:off x="571500" y="4397843"/>
            <a:ext cx="8001000" cy="539353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Shape 22"/>
          <p:cNvSpPr/>
          <p:nvPr/>
        </p:nvSpPr>
        <p:spPr>
          <a:xfrm>
            <a:off x="571500" y="4397843"/>
            <a:ext cx="35719" cy="539353"/>
          </a:xfrm>
          <a:prstGeom prst="rect">
            <a:avLst/>
          </a:prstGeom>
          <a:solidFill>
            <a:srgbClr val="FFDF0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950" y="4581795"/>
            <a:ext cx="171450" cy="17145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1057275" y="4512143"/>
            <a:ext cx="734377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Atenção:</a:t>
            </a: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IA não possui contexto do mundo real. Testes manuais e automatizados são a única barreira contra alucinações lógicas.</a:t>
            </a:r>
            <a:endParaRPr lang="en-US" sz="942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82292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71438" cy="822927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7786688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IA COMO ASSISTENTE: O DESENVOLVEDOR INDISPENSÁVEL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465864"/>
            <a:ext cx="1894266" cy="2766808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571500" y="1465864"/>
            <a:ext cx="35719" cy="276680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88" y="1749828"/>
            <a:ext cx="211745" cy="2000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18989" y="1594452"/>
            <a:ext cx="1318189" cy="510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VALIDAÇÃO DE SOLUÇÕES</a:t>
            </a:r>
            <a:endParaRPr lang="en-US" sz="1193" dirty="0"/>
          </a:p>
        </p:txBody>
      </p:sp>
      <p:sp>
        <p:nvSpPr>
          <p:cNvPr id="10" name="Text 6"/>
          <p:cNvSpPr/>
          <p:nvPr/>
        </p:nvSpPr>
        <p:spPr>
          <a:xfrm>
            <a:off x="700088" y="2176667"/>
            <a:ext cx="1637091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IA gera opções, mas o analista decide qual se adequa à arquitetura. Soluções tecnicamente corretas podem ser arquiteturalmente inviáveis.</a:t>
            </a:r>
            <a:endParaRPr lang="en-US" sz="834" dirty="0"/>
          </a:p>
        </p:txBody>
      </p:sp>
      <p:sp>
        <p:nvSpPr>
          <p:cNvPr id="11" name="Shape 7"/>
          <p:cNvSpPr/>
          <p:nvPr/>
        </p:nvSpPr>
        <p:spPr>
          <a:xfrm>
            <a:off x="2594353" y="1465864"/>
            <a:ext cx="1932384" cy="2766808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8"/>
          <p:cNvSpPr/>
          <p:nvPr/>
        </p:nvSpPr>
        <p:spPr>
          <a:xfrm>
            <a:off x="2594353" y="1465864"/>
            <a:ext cx="35719" cy="276680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2484" y="1749828"/>
            <a:ext cx="200025" cy="2000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039666" y="1594452"/>
            <a:ext cx="1339453" cy="510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AJUSTE DE INCONSISTÊNCIAS</a:t>
            </a:r>
            <a:endParaRPr lang="en-US" sz="1193" dirty="0"/>
          </a:p>
        </p:txBody>
      </p:sp>
      <p:sp>
        <p:nvSpPr>
          <p:cNvPr id="15" name="Text 10"/>
          <p:cNvSpPr/>
          <p:nvPr/>
        </p:nvSpPr>
        <p:spPr>
          <a:xfrm>
            <a:off x="2732484" y="2176667"/>
            <a:ext cx="164663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Correção de pequenos erros de contexto que a IA ignora, como nomes de variáveis fora do padrão ou importações circulares.</a:t>
            </a:r>
            <a:endParaRPr lang="en-US" sz="834" dirty="0"/>
          </a:p>
        </p:txBody>
      </p:sp>
      <p:sp>
        <p:nvSpPr>
          <p:cNvPr id="16" name="Shape 11"/>
          <p:cNvSpPr/>
          <p:nvPr/>
        </p:nvSpPr>
        <p:spPr>
          <a:xfrm>
            <a:off x="4636294" y="1465864"/>
            <a:ext cx="1903809" cy="2766808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2"/>
          <p:cNvSpPr/>
          <p:nvPr/>
        </p:nvSpPr>
        <p:spPr>
          <a:xfrm>
            <a:off x="4636294" y="1465864"/>
            <a:ext cx="35719" cy="276680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4881" y="1749828"/>
            <a:ext cx="229772" cy="2000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101810" y="1594452"/>
            <a:ext cx="1309706" cy="510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GARANTIA DE PADRÕES</a:t>
            </a:r>
            <a:endParaRPr lang="en-US" sz="1193" dirty="0"/>
          </a:p>
        </p:txBody>
      </p:sp>
      <p:sp>
        <p:nvSpPr>
          <p:cNvPr id="20" name="Text 14"/>
          <p:cNvSpPr/>
          <p:nvPr/>
        </p:nvSpPr>
        <p:spPr>
          <a:xfrm>
            <a:off x="4764881" y="2176667"/>
            <a:ext cx="164663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Assegurar que o código siga Design Patterns (SOLID, Clean Code) e as melhores práticas específicas do framework FastAPI.</a:t>
            </a:r>
            <a:endParaRPr lang="en-US" sz="834" dirty="0"/>
          </a:p>
        </p:txBody>
      </p:sp>
      <p:sp>
        <p:nvSpPr>
          <p:cNvPr id="21" name="Shape 15"/>
          <p:cNvSpPr/>
          <p:nvPr/>
        </p:nvSpPr>
        <p:spPr>
          <a:xfrm>
            <a:off x="6668691" y="1465864"/>
            <a:ext cx="1903809" cy="2766808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6"/>
          <p:cNvSpPr/>
          <p:nvPr/>
        </p:nvSpPr>
        <p:spPr>
          <a:xfrm>
            <a:off x="6668691" y="1465864"/>
            <a:ext cx="35719" cy="276680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7278" y="1749828"/>
            <a:ext cx="200025" cy="20002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04459" y="1594452"/>
            <a:ext cx="1339453" cy="510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DEBUGGING E REFINAMENTO</a:t>
            </a:r>
            <a:endParaRPr lang="en-US" sz="1193" dirty="0"/>
          </a:p>
        </p:txBody>
      </p:sp>
      <p:sp>
        <p:nvSpPr>
          <p:cNvPr id="25" name="Text 18"/>
          <p:cNvSpPr/>
          <p:nvPr/>
        </p:nvSpPr>
        <p:spPr>
          <a:xfrm>
            <a:off x="6797278" y="2176667"/>
            <a:ext cx="164663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Quando o código falha, apenas o conhecimento profundo do desenvolvedor pode rastrear a lógica e corrigir a raiz do problema.</a:t>
            </a:r>
            <a:endParaRPr lang="en-US" sz="834" dirty="0"/>
          </a:p>
        </p:txBody>
      </p:sp>
      <p:sp>
        <p:nvSpPr>
          <p:cNvPr id="26" name="Shape 19"/>
          <p:cNvSpPr/>
          <p:nvPr/>
        </p:nvSpPr>
        <p:spPr>
          <a:xfrm>
            <a:off x="571500" y="4375547"/>
            <a:ext cx="8001000" cy="482203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0"/>
          <p:cNvSpPr/>
          <p:nvPr/>
        </p:nvSpPr>
        <p:spPr>
          <a:xfrm>
            <a:off x="8536781" y="4375547"/>
            <a:ext cx="35719" cy="482203"/>
          </a:xfrm>
          <a:prstGeom prst="rect">
            <a:avLst/>
          </a:prstGeom>
          <a:solidFill>
            <a:srgbClr val="FFDF0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50" y="4502348"/>
            <a:ext cx="285750" cy="2286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143000" y="4461272"/>
            <a:ext cx="725805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Papel do Copilot:</a:t>
            </a: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Acelerar a digitação e sugerir correções em tempo real, permitindo que o humano foque na estratégia.</a:t>
            </a:r>
            <a:endParaRPr lang="en-US" sz="942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863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2888" y="500063"/>
            <a:ext cx="8801100" cy="411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242888" y="500063"/>
            <a:ext cx="71438" cy="411463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457200" y="500063"/>
            <a:ext cx="8586788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MÉTRICAS DE SUCESSO: IMPACTO REAL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242888" y="1040113"/>
            <a:ext cx="2114550" cy="2002036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242888" y="1040113"/>
            <a:ext cx="2114550" cy="35719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3119" y="1111551"/>
            <a:ext cx="192881" cy="2571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2900" y="1140126"/>
            <a:ext cx="191452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009C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70%</a:t>
            </a:r>
            <a:endParaRPr lang="en-US" sz="3294" dirty="0"/>
          </a:p>
        </p:txBody>
      </p:sp>
      <p:sp>
        <p:nvSpPr>
          <p:cNvPr id="10" name="Text 6"/>
          <p:cNvSpPr/>
          <p:nvPr/>
        </p:nvSpPr>
        <p:spPr>
          <a:xfrm>
            <a:off x="342900" y="1640188"/>
            <a:ext cx="191452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REDUÇÃO DE TEMPO</a:t>
            </a:r>
            <a:endParaRPr lang="en-US" sz="1269" dirty="0"/>
          </a:p>
        </p:txBody>
      </p:sp>
      <p:sp>
        <p:nvSpPr>
          <p:cNvPr id="11" name="Text 7"/>
          <p:cNvSpPr/>
          <p:nvPr/>
        </p:nvSpPr>
        <p:spPr>
          <a:xfrm>
            <a:off x="342900" y="1938440"/>
            <a:ext cx="19145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 total de desenvolvimento reduzido em comparação à codificação manual.</a:t>
            </a:r>
            <a:endParaRPr lang="en-US" sz="834" dirty="0"/>
          </a:p>
        </p:txBody>
      </p:sp>
      <p:sp>
        <p:nvSpPr>
          <p:cNvPr id="12" name="Shape 8"/>
          <p:cNvSpPr/>
          <p:nvPr/>
        </p:nvSpPr>
        <p:spPr>
          <a:xfrm>
            <a:off x="2471738" y="1040113"/>
            <a:ext cx="2114550" cy="2002036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9"/>
          <p:cNvSpPr/>
          <p:nvPr/>
        </p:nvSpPr>
        <p:spPr>
          <a:xfrm>
            <a:off x="2471738" y="1040113"/>
            <a:ext cx="2114550" cy="35719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3381" y="1111551"/>
            <a:ext cx="321469" cy="2571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571750" y="1140126"/>
            <a:ext cx="191452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009C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2.000+</a:t>
            </a:r>
            <a:endParaRPr lang="en-US" sz="3294" dirty="0"/>
          </a:p>
        </p:txBody>
      </p:sp>
      <p:sp>
        <p:nvSpPr>
          <p:cNvPr id="16" name="Text 11"/>
          <p:cNvSpPr/>
          <p:nvPr/>
        </p:nvSpPr>
        <p:spPr>
          <a:xfrm>
            <a:off x="2571750" y="1640188"/>
            <a:ext cx="191452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LINHAS DE CÓDIGO</a:t>
            </a:r>
            <a:endParaRPr lang="en-US" sz="1269" dirty="0"/>
          </a:p>
        </p:txBody>
      </p:sp>
      <p:sp>
        <p:nvSpPr>
          <p:cNvPr id="17" name="Text 12"/>
          <p:cNvSpPr/>
          <p:nvPr/>
        </p:nvSpPr>
        <p:spPr>
          <a:xfrm>
            <a:off x="2571750" y="1938440"/>
            <a:ext cx="19145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 gerado (Models, Routers, Services) em poucas horas.</a:t>
            </a:r>
            <a:endParaRPr lang="en-US" sz="834" dirty="0"/>
          </a:p>
        </p:txBody>
      </p:sp>
      <p:sp>
        <p:nvSpPr>
          <p:cNvPr id="18" name="Shape 13"/>
          <p:cNvSpPr/>
          <p:nvPr/>
        </p:nvSpPr>
        <p:spPr>
          <a:xfrm>
            <a:off x="4700588" y="1040113"/>
            <a:ext cx="2114550" cy="2002036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4"/>
          <p:cNvSpPr/>
          <p:nvPr/>
        </p:nvSpPr>
        <p:spPr>
          <a:xfrm>
            <a:off x="4700588" y="1040113"/>
            <a:ext cx="2114550" cy="35719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0819" y="1111551"/>
            <a:ext cx="192881" cy="25717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800600" y="1140126"/>
            <a:ext cx="191452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009C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390</a:t>
            </a:r>
            <a:endParaRPr lang="en-US" sz="3294" dirty="0"/>
          </a:p>
        </p:txBody>
      </p:sp>
      <p:sp>
        <p:nvSpPr>
          <p:cNvPr id="22" name="Text 16"/>
          <p:cNvSpPr/>
          <p:nvPr/>
        </p:nvSpPr>
        <p:spPr>
          <a:xfrm>
            <a:off x="4800600" y="1640188"/>
            <a:ext cx="191452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LINHAS / SEGUNDO</a:t>
            </a:r>
            <a:endParaRPr lang="en-US" sz="1269" dirty="0"/>
          </a:p>
        </p:txBody>
      </p:sp>
      <p:sp>
        <p:nvSpPr>
          <p:cNvPr id="23" name="Text 17"/>
          <p:cNvSpPr/>
          <p:nvPr/>
        </p:nvSpPr>
        <p:spPr>
          <a:xfrm>
            <a:off x="4800600" y="1938440"/>
            <a:ext cx="19145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Geração instantânea de modelos complexos como cartao_models.py.</a:t>
            </a:r>
            <a:endParaRPr lang="en-US" sz="834" dirty="0"/>
          </a:p>
        </p:txBody>
      </p:sp>
      <p:sp>
        <p:nvSpPr>
          <p:cNvPr id="24" name="Text 18"/>
          <p:cNvSpPr/>
          <p:nvPr/>
        </p:nvSpPr>
        <p:spPr>
          <a:xfrm>
            <a:off x="4800600" y="2438502"/>
            <a:ext cx="576858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(Segundos)</a:t>
            </a:r>
            <a:endParaRPr lang="en-US" sz="621" dirty="0"/>
          </a:p>
        </p:txBody>
      </p:sp>
      <p:sp>
        <p:nvSpPr>
          <p:cNvPr id="25" name="Shape 19"/>
          <p:cNvSpPr/>
          <p:nvPr/>
        </p:nvSpPr>
        <p:spPr>
          <a:xfrm>
            <a:off x="4800600" y="2572448"/>
            <a:ext cx="1914525" cy="57150"/>
          </a:xfrm>
          <a:prstGeom prst="round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0"/>
          <p:cNvSpPr/>
          <p:nvPr/>
        </p:nvSpPr>
        <p:spPr>
          <a:xfrm>
            <a:off x="4800600" y="2672460"/>
            <a:ext cx="625078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(Horas)</a:t>
            </a:r>
            <a:endParaRPr lang="en-US" sz="621" dirty="0"/>
          </a:p>
        </p:txBody>
      </p:sp>
      <p:sp>
        <p:nvSpPr>
          <p:cNvPr id="27" name="Shape 21"/>
          <p:cNvSpPr/>
          <p:nvPr/>
        </p:nvSpPr>
        <p:spPr>
          <a:xfrm>
            <a:off x="4800600" y="2806405"/>
            <a:ext cx="1914525" cy="57150"/>
          </a:xfrm>
          <a:prstGeom prst="round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Shape 22"/>
          <p:cNvSpPr/>
          <p:nvPr/>
        </p:nvSpPr>
        <p:spPr>
          <a:xfrm>
            <a:off x="6929438" y="1040113"/>
            <a:ext cx="2114550" cy="1966317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Shape 23"/>
          <p:cNvSpPr/>
          <p:nvPr/>
        </p:nvSpPr>
        <p:spPr>
          <a:xfrm>
            <a:off x="6929438" y="1040113"/>
            <a:ext cx="2114550" cy="35719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5375" y="1111551"/>
            <a:ext cx="257175" cy="25717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029450" y="1140126"/>
            <a:ext cx="191452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009C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0%</a:t>
            </a:r>
            <a:endParaRPr lang="en-US" sz="3294" dirty="0"/>
          </a:p>
        </p:txBody>
      </p:sp>
      <p:sp>
        <p:nvSpPr>
          <p:cNvPr id="32" name="Text 25"/>
          <p:cNvSpPr/>
          <p:nvPr/>
        </p:nvSpPr>
        <p:spPr>
          <a:xfrm>
            <a:off x="7029450" y="1640188"/>
            <a:ext cx="191452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ERROS SINTÁTICOS</a:t>
            </a:r>
            <a:endParaRPr lang="en-US" sz="1269" dirty="0"/>
          </a:p>
        </p:txBody>
      </p:sp>
      <p:sp>
        <p:nvSpPr>
          <p:cNvPr id="33" name="Text 26"/>
          <p:cNvSpPr/>
          <p:nvPr/>
        </p:nvSpPr>
        <p:spPr>
          <a:xfrm>
            <a:off x="7029450" y="1938440"/>
            <a:ext cx="19145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 gerado pelo GPT-4 sem erros de sintaxe; apenas ajustes lógicos necessários.</a:t>
            </a:r>
            <a:endParaRPr lang="en-US" sz="834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411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71438" cy="411463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7786688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OBSTÁCULOS SUPERADOS: LIMITAÇÕES DA IA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197276"/>
            <a:ext cx="5000625" cy="945096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571500" y="1197276"/>
            <a:ext cx="35719" cy="945096"/>
          </a:xfrm>
          <a:prstGeom prst="rect">
            <a:avLst/>
          </a:prstGeom>
          <a:solidFill>
            <a:srgbClr val="FFDF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657225" y="1318720"/>
            <a:ext cx="314325" cy="314325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372" y="1375870"/>
            <a:ext cx="250031" cy="2000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7275" y="1283001"/>
            <a:ext cx="4429125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REGRAS COMPLEXAS</a:t>
            </a:r>
            <a:endParaRPr lang="en-US" sz="1090" dirty="0"/>
          </a:p>
        </p:txBody>
      </p:sp>
      <p:sp>
        <p:nvSpPr>
          <p:cNvPr id="11" name="Text 7"/>
          <p:cNvSpPr/>
          <p:nvPr/>
        </p:nvSpPr>
        <p:spPr>
          <a:xfrm>
            <a:off x="1057275" y="1558035"/>
            <a:ext cx="44291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IA teve dificuldade em implementar corretamente a lógica de desempate (confronto direto) na primeira tentativa.</a:t>
            </a:r>
            <a:endParaRPr lang="en-US" sz="834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275" y="1945918"/>
            <a:ext cx="125016" cy="10001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9441" y="1935203"/>
            <a:ext cx="308431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9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Solução: Refinamento manual do algoritmo e múltiplos prompts.</a:t>
            </a:r>
            <a:endParaRPr lang="en-US" sz="683" dirty="0"/>
          </a:p>
        </p:txBody>
      </p:sp>
      <p:sp>
        <p:nvSpPr>
          <p:cNvPr id="14" name="Shape 9"/>
          <p:cNvSpPr/>
          <p:nvPr/>
        </p:nvSpPr>
        <p:spPr>
          <a:xfrm>
            <a:off x="571500" y="2249528"/>
            <a:ext cx="5000625" cy="945096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0"/>
          <p:cNvSpPr/>
          <p:nvPr/>
        </p:nvSpPr>
        <p:spPr>
          <a:xfrm>
            <a:off x="571500" y="2249528"/>
            <a:ext cx="35719" cy="945096"/>
          </a:xfrm>
          <a:prstGeom prst="rect">
            <a:avLst/>
          </a:prstGeom>
          <a:solidFill>
            <a:srgbClr val="FFDF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1"/>
          <p:cNvSpPr/>
          <p:nvPr/>
        </p:nvSpPr>
        <p:spPr>
          <a:xfrm>
            <a:off x="657225" y="2370972"/>
            <a:ext cx="314325" cy="314325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2428122"/>
            <a:ext cx="200025" cy="2000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57275" y="2335253"/>
            <a:ext cx="4429125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FALTA DE CONTEXTO</a:t>
            </a:r>
            <a:endParaRPr lang="en-US" sz="1090" dirty="0"/>
          </a:p>
        </p:txBody>
      </p:sp>
      <p:sp>
        <p:nvSpPr>
          <p:cNvPr id="19" name="Text 13"/>
          <p:cNvSpPr/>
          <p:nvPr/>
        </p:nvSpPr>
        <p:spPr>
          <a:xfrm>
            <a:off x="1057275" y="2610287"/>
            <a:ext cx="44291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Sugestões de código conflitavam com decisões arquiteturais tomadas anteriormente no projeto.</a:t>
            </a:r>
            <a:endParaRPr lang="en-US" sz="834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275" y="2998170"/>
            <a:ext cx="125016" cy="10001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39441" y="2987455"/>
            <a:ext cx="287178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9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Solução: Fornecer contexto explícito em cada novo prompt.</a:t>
            </a:r>
            <a:endParaRPr lang="en-US" sz="683" dirty="0"/>
          </a:p>
        </p:txBody>
      </p:sp>
      <p:sp>
        <p:nvSpPr>
          <p:cNvPr id="22" name="Shape 15"/>
          <p:cNvSpPr/>
          <p:nvPr/>
        </p:nvSpPr>
        <p:spPr>
          <a:xfrm>
            <a:off x="571500" y="3301780"/>
            <a:ext cx="5000625" cy="785087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16"/>
          <p:cNvSpPr/>
          <p:nvPr/>
        </p:nvSpPr>
        <p:spPr>
          <a:xfrm>
            <a:off x="571500" y="3301780"/>
            <a:ext cx="35719" cy="785087"/>
          </a:xfrm>
          <a:prstGeom prst="rect">
            <a:avLst/>
          </a:prstGeom>
          <a:solidFill>
            <a:srgbClr val="FFDF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17"/>
          <p:cNvSpPr/>
          <p:nvPr/>
        </p:nvSpPr>
        <p:spPr>
          <a:xfrm>
            <a:off x="657225" y="3423224"/>
            <a:ext cx="314325" cy="314325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873" y="3480374"/>
            <a:ext cx="225028" cy="20002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057275" y="3387505"/>
            <a:ext cx="3559373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DEPENDÊNCIAS</a:t>
            </a:r>
            <a:endParaRPr lang="en-US" sz="1090" dirty="0"/>
          </a:p>
        </p:txBody>
      </p:sp>
      <p:sp>
        <p:nvSpPr>
          <p:cNvPr id="27" name="Text 19"/>
          <p:cNvSpPr/>
          <p:nvPr/>
        </p:nvSpPr>
        <p:spPr>
          <a:xfrm>
            <a:off x="1057275" y="3662539"/>
            <a:ext cx="355937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Erros de importação circular e referências a módulos não criados.</a:t>
            </a:r>
            <a:endParaRPr lang="en-US" sz="834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275" y="3890414"/>
            <a:ext cx="125016" cy="100013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239441" y="3879698"/>
            <a:ext cx="231993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9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Solução: Ajuste manual da estrutura de imports.</a:t>
            </a:r>
            <a:endParaRPr lang="en-US" sz="683" dirty="0"/>
          </a:p>
        </p:txBody>
      </p:sp>
      <p:sp>
        <p:nvSpPr>
          <p:cNvPr id="30" name="Shape 21"/>
          <p:cNvSpPr/>
          <p:nvPr/>
        </p:nvSpPr>
        <p:spPr>
          <a:xfrm>
            <a:off x="5786438" y="1197276"/>
            <a:ext cx="2786063" cy="2889591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2"/>
          <p:cNvSpPr/>
          <p:nvPr/>
        </p:nvSpPr>
        <p:spPr>
          <a:xfrm>
            <a:off x="5786438" y="1197276"/>
            <a:ext cx="2786063" cy="71438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23"/>
          <p:cNvSpPr/>
          <p:nvPr/>
        </p:nvSpPr>
        <p:spPr>
          <a:xfrm>
            <a:off x="5929313" y="1824893"/>
            <a:ext cx="2500313" cy="66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924" dirty="0">
                <a:solidFill>
                  <a:srgbClr val="FFDF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"A IA sugere, o Humano decide."</a:t>
            </a:r>
            <a:endParaRPr lang="en-US" sz="1924" dirty="0"/>
          </a:p>
        </p:txBody>
      </p:sp>
      <p:sp>
        <p:nvSpPr>
          <p:cNvPr id="33" name="Text 24"/>
          <p:cNvSpPr/>
          <p:nvPr/>
        </p:nvSpPr>
        <p:spPr>
          <a:xfrm>
            <a:off x="5929313" y="2636379"/>
            <a:ext cx="2500313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desafios reforçam que a supervisão humana não é opcional. O desenvolvedor atua como o filtro final de qualidade e coerência.</a:t>
            </a:r>
            <a:endParaRPr lang="en-US" sz="942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411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71438" cy="411463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7786688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SÍNTESE: O VEREDITO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197276"/>
            <a:ext cx="2476509" cy="2472826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571500" y="1197276"/>
            <a:ext cx="2476509" cy="35719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1523991" y="1411588"/>
            <a:ext cx="571500" cy="571500"/>
          </a:xfrm>
          <a:prstGeom prst="ellipse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291" y="1525888"/>
            <a:ext cx="342900" cy="342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48969" y="2125963"/>
            <a:ext cx="921544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ACELERADOR</a:t>
            </a:r>
            <a:endParaRPr lang="en-US" sz="1193" dirty="0"/>
          </a:p>
        </p:txBody>
      </p:sp>
      <p:sp>
        <p:nvSpPr>
          <p:cNvPr id="11" name="Text 7"/>
          <p:cNvSpPr/>
          <p:nvPr/>
        </p:nvSpPr>
        <p:spPr>
          <a:xfrm>
            <a:off x="714375" y="2488509"/>
            <a:ext cx="219075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IA elimina o "trabalho braçal" (boilerplate), permitindo que o projeto avance dias em questão de horas.</a:t>
            </a:r>
            <a:endParaRPr lang="en-US" sz="834" dirty="0"/>
          </a:p>
        </p:txBody>
      </p:sp>
      <p:sp>
        <p:nvSpPr>
          <p:cNvPr id="12" name="Shape 8"/>
          <p:cNvSpPr/>
          <p:nvPr/>
        </p:nvSpPr>
        <p:spPr>
          <a:xfrm>
            <a:off x="3333759" y="1197276"/>
            <a:ext cx="2476509" cy="2472826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9"/>
          <p:cNvSpPr/>
          <p:nvPr/>
        </p:nvSpPr>
        <p:spPr>
          <a:xfrm>
            <a:off x="3333759" y="1197276"/>
            <a:ext cx="2476509" cy="35719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4286250" y="1411588"/>
            <a:ext cx="571500" cy="571500"/>
          </a:xfrm>
          <a:prstGeom prst="ellipse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7688" y="1525888"/>
            <a:ext cx="428625" cy="3429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129088" y="2125963"/>
            <a:ext cx="88582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SUPERVISÃO</a:t>
            </a:r>
            <a:endParaRPr lang="en-US" sz="1193" dirty="0"/>
          </a:p>
        </p:txBody>
      </p:sp>
      <p:sp>
        <p:nvSpPr>
          <p:cNvPr id="17" name="Text 12"/>
          <p:cNvSpPr/>
          <p:nvPr/>
        </p:nvSpPr>
        <p:spPr>
          <a:xfrm>
            <a:off x="3476634" y="2488509"/>
            <a:ext cx="21907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revisão humana especializada é o único "firewall" eficaz contra alucinações lógicas e falhas de contexto.</a:t>
            </a:r>
            <a:endParaRPr lang="en-US" sz="834" dirty="0"/>
          </a:p>
        </p:txBody>
      </p:sp>
      <p:sp>
        <p:nvSpPr>
          <p:cNvPr id="18" name="Shape 13"/>
          <p:cNvSpPr/>
          <p:nvPr/>
        </p:nvSpPr>
        <p:spPr>
          <a:xfrm>
            <a:off x="6096019" y="1197276"/>
            <a:ext cx="2476509" cy="2472826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4"/>
          <p:cNvSpPr/>
          <p:nvPr/>
        </p:nvSpPr>
        <p:spPr>
          <a:xfrm>
            <a:off x="6096019" y="1197276"/>
            <a:ext cx="2476509" cy="35719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7048509" y="1411588"/>
            <a:ext cx="571500" cy="571500"/>
          </a:xfrm>
          <a:prstGeom prst="ellipse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5672" y="1525888"/>
            <a:ext cx="257175" cy="342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69928" y="2125963"/>
            <a:ext cx="728663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EVOLUÇÃO</a:t>
            </a:r>
            <a:endParaRPr lang="en-US" sz="1193" dirty="0"/>
          </a:p>
        </p:txBody>
      </p:sp>
      <p:sp>
        <p:nvSpPr>
          <p:cNvPr id="23" name="Text 17"/>
          <p:cNvSpPr/>
          <p:nvPr/>
        </p:nvSpPr>
        <p:spPr>
          <a:xfrm>
            <a:off x="6238894" y="2488509"/>
            <a:ext cx="219075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desenvolvedor deixa de ser um "digitador de código" para se tornar um "arquiteto e revisor de soluções".</a:t>
            </a:r>
            <a:endParaRPr lang="en-US" sz="834" dirty="0"/>
          </a:p>
        </p:txBody>
      </p:sp>
      <p:sp>
        <p:nvSpPr>
          <p:cNvPr id="24" name="Shape 18"/>
          <p:cNvSpPr/>
          <p:nvPr/>
        </p:nvSpPr>
        <p:spPr>
          <a:xfrm>
            <a:off x="571500" y="3955852"/>
            <a:ext cx="8001000" cy="759023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19"/>
          <p:cNvSpPr/>
          <p:nvPr/>
        </p:nvSpPr>
        <p:spPr>
          <a:xfrm>
            <a:off x="571500" y="3955852"/>
            <a:ext cx="71438" cy="759023"/>
          </a:xfrm>
          <a:prstGeom prst="rect">
            <a:avLst/>
          </a:prstGeom>
          <a:solidFill>
            <a:srgbClr val="FFDF0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4221063"/>
            <a:ext cx="171450" cy="2286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07294" y="4134445"/>
            <a:ext cx="5523905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DF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RECOMENDAÇÃO FINAL</a:t>
            </a:r>
            <a:endParaRPr lang="en-US" sz="987" dirty="0"/>
          </a:p>
        </p:txBody>
      </p:sp>
      <p:sp>
        <p:nvSpPr>
          <p:cNvPr id="28" name="Text 21"/>
          <p:cNvSpPr/>
          <p:nvPr/>
        </p:nvSpPr>
        <p:spPr>
          <a:xfrm>
            <a:off x="1207294" y="4380905"/>
            <a:ext cx="552390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Adote a IA para escalar a produção, mas mantenha o especialista no comando da estratégia.</a:t>
            </a:r>
            <a:endParaRPr lang="en-US" sz="942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411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71438" cy="411463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7786688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FUTURO: EXPANDINDO O PROJETO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1277280" y="1554463"/>
            <a:ext cx="571500" cy="571500"/>
          </a:xfrm>
          <a:prstGeom prst="ellipse">
            <a:avLst/>
          </a:prstGeom>
          <a:solidFill>
            <a:srgbClr val="009C3B"/>
          </a:solidFill>
          <a:ln w="27432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8730" y="1725913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26368" y="2304557"/>
            <a:ext cx="87332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API REAL-TIME</a:t>
            </a:r>
            <a:endParaRPr lang="en-US" sz="1159" dirty="0"/>
          </a:p>
        </p:txBody>
      </p:sp>
      <p:sp>
        <p:nvSpPr>
          <p:cNvPr id="9" name="Shape 5"/>
          <p:cNvSpPr/>
          <p:nvPr/>
        </p:nvSpPr>
        <p:spPr>
          <a:xfrm>
            <a:off x="714375" y="2797476"/>
            <a:ext cx="1697338" cy="1092994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6"/>
          <p:cNvSpPr/>
          <p:nvPr/>
        </p:nvSpPr>
        <p:spPr>
          <a:xfrm>
            <a:off x="714375" y="2797476"/>
            <a:ext cx="1697338" cy="21431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7"/>
          <p:cNvSpPr/>
          <p:nvPr/>
        </p:nvSpPr>
        <p:spPr>
          <a:xfrm>
            <a:off x="714375" y="2797476"/>
            <a:ext cx="1697338" cy="109299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Implementação de WebSockets para atualização instantânea de placares e tabela durante os jogos.</a:t>
            </a:r>
            <a:endParaRPr lang="en-US" sz="834" dirty="0"/>
          </a:p>
        </p:txBody>
      </p:sp>
      <p:sp>
        <p:nvSpPr>
          <p:cNvPr id="12" name="Shape 8"/>
          <p:cNvSpPr/>
          <p:nvPr/>
        </p:nvSpPr>
        <p:spPr>
          <a:xfrm>
            <a:off x="3283251" y="1554463"/>
            <a:ext cx="571500" cy="571500"/>
          </a:xfrm>
          <a:prstGeom prst="ellipse">
            <a:avLst/>
          </a:prstGeom>
          <a:solidFill>
            <a:srgbClr val="111111"/>
          </a:solidFill>
          <a:ln w="27432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0413" y="1725913"/>
            <a:ext cx="257175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847482" y="2304557"/>
            <a:ext cx="144303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FRONTEND DASHBOARD</a:t>
            </a:r>
            <a:endParaRPr lang="en-US" sz="1159" dirty="0"/>
          </a:p>
        </p:txBody>
      </p:sp>
      <p:sp>
        <p:nvSpPr>
          <p:cNvPr id="15" name="Shape 10"/>
          <p:cNvSpPr/>
          <p:nvPr/>
        </p:nvSpPr>
        <p:spPr>
          <a:xfrm>
            <a:off x="2720346" y="2797476"/>
            <a:ext cx="1697338" cy="1092994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1"/>
          <p:cNvSpPr/>
          <p:nvPr/>
        </p:nvSpPr>
        <p:spPr>
          <a:xfrm>
            <a:off x="2720346" y="2797476"/>
            <a:ext cx="1697338" cy="21431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2"/>
          <p:cNvSpPr/>
          <p:nvPr/>
        </p:nvSpPr>
        <p:spPr>
          <a:xfrm>
            <a:off x="2720346" y="2797476"/>
            <a:ext cx="1697338" cy="109299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Criação de interface visual interativa com React/Next.js para consumo da API pelos torcedores.</a:t>
            </a:r>
            <a:endParaRPr lang="en-US" sz="834" dirty="0"/>
          </a:p>
        </p:txBody>
      </p:sp>
      <p:sp>
        <p:nvSpPr>
          <p:cNvPr id="18" name="Shape 13"/>
          <p:cNvSpPr/>
          <p:nvPr/>
        </p:nvSpPr>
        <p:spPr>
          <a:xfrm>
            <a:off x="5289221" y="1554463"/>
            <a:ext cx="571500" cy="571500"/>
          </a:xfrm>
          <a:prstGeom prst="ellipse">
            <a:avLst/>
          </a:prstGeom>
          <a:solidFill>
            <a:srgbClr val="111111"/>
          </a:solidFill>
          <a:ln w="27432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0671" y="1725913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175814" y="2304557"/>
            <a:ext cx="79831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IA PREDITIVA</a:t>
            </a:r>
            <a:endParaRPr lang="en-US" sz="1159" dirty="0"/>
          </a:p>
        </p:txBody>
      </p:sp>
      <p:sp>
        <p:nvSpPr>
          <p:cNvPr id="21" name="Shape 15"/>
          <p:cNvSpPr/>
          <p:nvPr/>
        </p:nvSpPr>
        <p:spPr>
          <a:xfrm>
            <a:off x="4726316" y="2797476"/>
            <a:ext cx="1697338" cy="921544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6"/>
          <p:cNvSpPr/>
          <p:nvPr/>
        </p:nvSpPr>
        <p:spPr>
          <a:xfrm>
            <a:off x="4726316" y="2797476"/>
            <a:ext cx="1697338" cy="21431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17"/>
          <p:cNvSpPr/>
          <p:nvPr/>
        </p:nvSpPr>
        <p:spPr>
          <a:xfrm>
            <a:off x="4726316" y="2797476"/>
            <a:ext cx="1697338" cy="92154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de Machine Learning para calcular probabilidades de vitória baseadas no histórico.</a:t>
            </a:r>
            <a:endParaRPr lang="en-US" sz="834" dirty="0"/>
          </a:p>
        </p:txBody>
      </p:sp>
      <p:sp>
        <p:nvSpPr>
          <p:cNvPr id="24" name="Shape 18"/>
          <p:cNvSpPr/>
          <p:nvPr/>
        </p:nvSpPr>
        <p:spPr>
          <a:xfrm>
            <a:off x="7295192" y="1554463"/>
            <a:ext cx="571500" cy="571500"/>
          </a:xfrm>
          <a:prstGeom prst="ellipse">
            <a:avLst/>
          </a:prstGeom>
          <a:solidFill>
            <a:srgbClr val="111111"/>
          </a:solidFill>
          <a:ln w="27432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5217" y="1725913"/>
            <a:ext cx="171450" cy="2286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208574" y="2304557"/>
            <a:ext cx="74473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APP MOBILE</a:t>
            </a:r>
            <a:endParaRPr lang="en-US" sz="1159" dirty="0"/>
          </a:p>
        </p:txBody>
      </p:sp>
      <p:sp>
        <p:nvSpPr>
          <p:cNvPr id="27" name="Shape 20"/>
          <p:cNvSpPr/>
          <p:nvPr/>
        </p:nvSpPr>
        <p:spPr>
          <a:xfrm>
            <a:off x="6732287" y="2797476"/>
            <a:ext cx="1697338" cy="921544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Shape 21"/>
          <p:cNvSpPr/>
          <p:nvPr/>
        </p:nvSpPr>
        <p:spPr>
          <a:xfrm>
            <a:off x="6732287" y="2797476"/>
            <a:ext cx="1697338" cy="21431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2"/>
          <p:cNvSpPr/>
          <p:nvPr/>
        </p:nvSpPr>
        <p:spPr>
          <a:xfrm>
            <a:off x="6732287" y="2797476"/>
            <a:ext cx="1697338" cy="92154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Aplicativo nativo (React Native) com notificações push personalizadas por time.</a:t>
            </a:r>
            <a:endParaRPr lang="en-US" sz="834" dirty="0"/>
          </a:p>
        </p:txBody>
      </p:sp>
      <p:sp>
        <p:nvSpPr>
          <p:cNvPr id="30" name="Shape 23"/>
          <p:cNvSpPr/>
          <p:nvPr/>
        </p:nvSpPr>
        <p:spPr>
          <a:xfrm>
            <a:off x="571500" y="4273748"/>
            <a:ext cx="8001000" cy="441127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4"/>
          <p:cNvSpPr/>
          <p:nvPr/>
        </p:nvSpPr>
        <p:spPr>
          <a:xfrm>
            <a:off x="571500" y="4273748"/>
            <a:ext cx="35719" cy="441127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25"/>
          <p:cNvSpPr/>
          <p:nvPr/>
        </p:nvSpPr>
        <p:spPr>
          <a:xfrm>
            <a:off x="785813" y="4416623"/>
            <a:ext cx="70223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9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Visão de Longo Prazo:</a:t>
            </a: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Transformar o backend atual em uma plataforma completa de estatísticas esportivas (SaaS).</a:t>
            </a:r>
            <a:endParaRPr lang="en-US" sz="942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0164" y="755452"/>
            <a:ext cx="803672" cy="7143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261890" y="1766292"/>
            <a:ext cx="462022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974" b="1" kern="0" spc="2" dirty="0">
                <a:solidFill>
                  <a:srgbClr val="1111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OBRIGADO!</a:t>
            </a:r>
            <a:endParaRPr lang="en-US" sz="4974" dirty="0"/>
          </a:p>
        </p:txBody>
      </p:sp>
      <p:sp>
        <p:nvSpPr>
          <p:cNvPr id="5" name="Text 1"/>
          <p:cNvSpPr/>
          <p:nvPr/>
        </p:nvSpPr>
        <p:spPr>
          <a:xfrm>
            <a:off x="2261890" y="2594967"/>
            <a:ext cx="462022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4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Perguntas &amp; Discussão</a:t>
            </a:r>
            <a:endParaRPr lang="en-US" sz="1704" dirty="0"/>
          </a:p>
        </p:txBody>
      </p:sp>
      <p:sp>
        <p:nvSpPr>
          <p:cNvPr id="6" name="Shape 2"/>
          <p:cNvSpPr/>
          <p:nvPr/>
        </p:nvSpPr>
        <p:spPr>
          <a:xfrm>
            <a:off x="2645866" y="3300413"/>
            <a:ext cx="428625" cy="428625"/>
          </a:xfrm>
          <a:prstGeom prst="ellipse">
            <a:avLst/>
          </a:prstGeom>
          <a:solidFill>
            <a:srgbClr val="FFDF0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9451" y="3400425"/>
            <a:ext cx="221456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61890" y="3836194"/>
            <a:ext cx="119657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/PROJETO-BRASILEIRAO</a:t>
            </a:r>
            <a:endParaRPr lang="en-US" sz="885" dirty="0"/>
          </a:p>
        </p:txBody>
      </p:sp>
      <p:sp>
        <p:nvSpPr>
          <p:cNvPr id="9" name="Shape 4"/>
          <p:cNvSpPr/>
          <p:nvPr/>
        </p:nvSpPr>
        <p:spPr>
          <a:xfrm>
            <a:off x="4314825" y="3300413"/>
            <a:ext cx="428625" cy="428625"/>
          </a:xfrm>
          <a:prstGeom prst="ellipse">
            <a:avLst/>
          </a:prstGeom>
          <a:solidFill>
            <a:srgbClr val="FFDF0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4838" y="3400425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887093" y="3836194"/>
            <a:ext cx="1284089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CONTATO@EXEMPLO.COM</a:t>
            </a:r>
            <a:endParaRPr lang="en-US" sz="885" dirty="0"/>
          </a:p>
        </p:txBody>
      </p:sp>
      <p:sp>
        <p:nvSpPr>
          <p:cNvPr id="12" name="Shape 6"/>
          <p:cNvSpPr/>
          <p:nvPr/>
        </p:nvSpPr>
        <p:spPr>
          <a:xfrm>
            <a:off x="6026646" y="3300413"/>
            <a:ext cx="428625" cy="428625"/>
          </a:xfrm>
          <a:prstGeom prst="ellipse">
            <a:avLst/>
          </a:prstGeom>
          <a:solidFill>
            <a:srgbClr val="FFDF0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8084" y="3400425"/>
            <a:ext cx="285750" cy="2286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599807" y="3836194"/>
            <a:ext cx="128230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DOCUMENTAÇÃO TÉCNICA</a:t>
            </a:r>
            <a:endParaRPr lang="en-US" sz="885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4358" y="4747022"/>
            <a:ext cx="125016" cy="100013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3630811" y="4736306"/>
            <a:ext cx="207883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Apresentação gerada com assistência de IA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1955</Words>
  <Application>Microsoft Office PowerPoint</Application>
  <PresentationFormat>Apresentação na tela (16:9)</PresentationFormat>
  <Paragraphs>297</Paragraphs>
  <Slides>18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6" baseType="lpstr">
      <vt:lpstr>Aptos</vt:lpstr>
      <vt:lpstr>Arial</vt:lpstr>
      <vt:lpstr>Calibri</vt:lpstr>
      <vt:lpstr>Courier New</vt:lpstr>
      <vt:lpstr>Fira Code</vt:lpstr>
      <vt:lpstr>Inter</vt:lpstr>
      <vt:lpstr>Oswald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Guilherme Heizer</cp:lastModifiedBy>
  <cp:revision>4</cp:revision>
  <dcterms:created xsi:type="dcterms:W3CDTF">2026-03-08T10:28:40Z</dcterms:created>
  <dcterms:modified xsi:type="dcterms:W3CDTF">2026-03-08T21:27:09Z</dcterms:modified>
</cp:coreProperties>
</file>